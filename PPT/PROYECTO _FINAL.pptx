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Monterchi Serif" panose="020B0604020202020204" charset="0"/>
      <p:regular r:id="rId15"/>
    </p:embeddedFont>
    <p:embeddedFont>
      <p:font typeface="Monterchi Serif Bold" panose="020B0604020202020204" charset="0"/>
      <p:regular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Roboto Bold" panose="020B0604020202020204" charset="0"/>
      <p:regular r:id="rId21"/>
    </p:embeddedFont>
    <p:embeddedFont>
      <p:font typeface="Roboto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3" d="100"/>
          <a:sy n="73" d="100"/>
        </p:scale>
        <p:origin x="594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8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08973" y="2530302"/>
            <a:ext cx="12965683" cy="703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26"/>
              </a:lnSpc>
            </a:pPr>
            <a:r>
              <a:rPr lang="en-US" sz="5760" b="1" spc="184">
                <a:solidFill>
                  <a:srgbClr val="365B6D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ROBOT REMOTO APOYADO CON IA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708973" y="3322469"/>
            <a:ext cx="12965683" cy="1350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26"/>
              </a:lnSpc>
            </a:pPr>
            <a:r>
              <a:rPr lang="en-US" sz="5759" b="1" spc="184">
                <a:solidFill>
                  <a:srgbClr val="6C9286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EN LA BÚSQUEDA DE PERSONAS CON SENSOR FACIAL Y ACÚSTICO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136083" y="721474"/>
            <a:ext cx="3598580" cy="4114800"/>
            <a:chOff x="0" y="0"/>
            <a:chExt cx="4798106" cy="5486400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359656"/>
              <a:ext cx="4798106" cy="314368"/>
              <a:chOff x="0" y="0"/>
              <a:chExt cx="947774" cy="62097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947774" cy="62097"/>
              </a:xfrm>
              <a:custGeom>
                <a:avLst/>
                <a:gdLst/>
                <a:ahLst/>
                <a:cxnLst/>
                <a:rect l="l" t="t" r="r" b="b"/>
                <a:pathLst>
                  <a:path w="947774" h="62097">
                    <a:moveTo>
                      <a:pt x="0" y="0"/>
                    </a:moveTo>
                    <a:lnTo>
                      <a:pt x="947774" y="0"/>
                    </a:lnTo>
                    <a:lnTo>
                      <a:pt x="947774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365B6D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28575"/>
                <a:ext cx="947774" cy="906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21"/>
                  </a:lnSpc>
                </a:pPr>
                <a:endParaRPr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0" y="925401"/>
              <a:ext cx="3675307" cy="314368"/>
              <a:chOff x="0" y="0"/>
              <a:chExt cx="725987" cy="62097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725987" cy="62097"/>
              </a:xfrm>
              <a:custGeom>
                <a:avLst/>
                <a:gdLst/>
                <a:ahLst/>
                <a:cxnLst/>
                <a:rect l="l" t="t" r="r" b="b"/>
                <a:pathLst>
                  <a:path w="725987" h="62097">
                    <a:moveTo>
                      <a:pt x="0" y="0"/>
                    </a:moveTo>
                    <a:lnTo>
                      <a:pt x="725987" y="0"/>
                    </a:lnTo>
                    <a:lnTo>
                      <a:pt x="725987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365B6D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28575"/>
                <a:ext cx="725987" cy="906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21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 rot="-5400000">
              <a:off x="-650594" y="1538808"/>
              <a:ext cx="3391984" cy="314368"/>
              <a:chOff x="0" y="0"/>
              <a:chExt cx="670022" cy="62097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70022" cy="62097"/>
              </a:xfrm>
              <a:custGeom>
                <a:avLst/>
                <a:gdLst/>
                <a:ahLst/>
                <a:cxnLst/>
                <a:rect l="l" t="t" r="r" b="b"/>
                <a:pathLst>
                  <a:path w="670022" h="62097">
                    <a:moveTo>
                      <a:pt x="0" y="0"/>
                    </a:moveTo>
                    <a:lnTo>
                      <a:pt x="670022" y="0"/>
                    </a:lnTo>
                    <a:lnTo>
                      <a:pt x="670022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365B6D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-28575"/>
                <a:ext cx="670022" cy="906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21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 rot="-5400000">
              <a:off x="-2123316" y="3048717"/>
              <a:ext cx="4560999" cy="314368"/>
              <a:chOff x="0" y="0"/>
              <a:chExt cx="900938" cy="62097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900938" cy="62097"/>
              </a:xfrm>
              <a:custGeom>
                <a:avLst/>
                <a:gdLst/>
                <a:ahLst/>
                <a:cxnLst/>
                <a:rect l="l" t="t" r="r" b="b"/>
                <a:pathLst>
                  <a:path w="900938" h="62097">
                    <a:moveTo>
                      <a:pt x="0" y="0"/>
                    </a:moveTo>
                    <a:lnTo>
                      <a:pt x="900938" y="0"/>
                    </a:lnTo>
                    <a:lnTo>
                      <a:pt x="900938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365B6D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0" y="-28575"/>
                <a:ext cx="900938" cy="906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21"/>
                  </a:lnSpc>
                </a:pPr>
                <a:endParaRPr/>
              </a:p>
            </p:txBody>
          </p:sp>
        </p:grpSp>
      </p:grpSp>
      <p:grpSp>
        <p:nvGrpSpPr>
          <p:cNvPr id="17" name="Group 17"/>
          <p:cNvGrpSpPr/>
          <p:nvPr/>
        </p:nvGrpSpPr>
        <p:grpSpPr>
          <a:xfrm rot="-10800000">
            <a:off x="13605221" y="5319624"/>
            <a:ext cx="3598580" cy="4114800"/>
            <a:chOff x="0" y="0"/>
            <a:chExt cx="4798106" cy="5486400"/>
          </a:xfrm>
        </p:grpSpPr>
        <p:grpSp>
          <p:nvGrpSpPr>
            <p:cNvPr id="18" name="Group 18"/>
            <p:cNvGrpSpPr/>
            <p:nvPr/>
          </p:nvGrpSpPr>
          <p:grpSpPr>
            <a:xfrm>
              <a:off x="0" y="359656"/>
              <a:ext cx="4798106" cy="314368"/>
              <a:chOff x="0" y="0"/>
              <a:chExt cx="947774" cy="62097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947774" cy="62097"/>
              </a:xfrm>
              <a:custGeom>
                <a:avLst/>
                <a:gdLst/>
                <a:ahLst/>
                <a:cxnLst/>
                <a:rect l="l" t="t" r="r" b="b"/>
                <a:pathLst>
                  <a:path w="947774" h="62097">
                    <a:moveTo>
                      <a:pt x="0" y="0"/>
                    </a:moveTo>
                    <a:lnTo>
                      <a:pt x="947774" y="0"/>
                    </a:lnTo>
                    <a:lnTo>
                      <a:pt x="947774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6C928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28575"/>
                <a:ext cx="947774" cy="906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921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0" y="925401"/>
              <a:ext cx="3675307" cy="314368"/>
              <a:chOff x="0" y="0"/>
              <a:chExt cx="725987" cy="62097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725987" cy="62097"/>
              </a:xfrm>
              <a:custGeom>
                <a:avLst/>
                <a:gdLst/>
                <a:ahLst/>
                <a:cxnLst/>
                <a:rect l="l" t="t" r="r" b="b"/>
                <a:pathLst>
                  <a:path w="725987" h="62097">
                    <a:moveTo>
                      <a:pt x="0" y="0"/>
                    </a:moveTo>
                    <a:lnTo>
                      <a:pt x="725987" y="0"/>
                    </a:lnTo>
                    <a:lnTo>
                      <a:pt x="725987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6C928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-28575"/>
                <a:ext cx="725987" cy="906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921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 rot="-5400000">
              <a:off x="-650594" y="1538808"/>
              <a:ext cx="3391984" cy="314368"/>
              <a:chOff x="0" y="0"/>
              <a:chExt cx="670022" cy="62097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670022" cy="62097"/>
              </a:xfrm>
              <a:custGeom>
                <a:avLst/>
                <a:gdLst/>
                <a:ahLst/>
                <a:cxnLst/>
                <a:rect l="l" t="t" r="r" b="b"/>
                <a:pathLst>
                  <a:path w="670022" h="62097">
                    <a:moveTo>
                      <a:pt x="0" y="0"/>
                    </a:moveTo>
                    <a:lnTo>
                      <a:pt x="670022" y="0"/>
                    </a:lnTo>
                    <a:lnTo>
                      <a:pt x="670022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6C928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0" y="-28575"/>
                <a:ext cx="670022" cy="906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921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 rot="-5400000">
              <a:off x="-2123316" y="3048717"/>
              <a:ext cx="4560999" cy="314368"/>
              <a:chOff x="0" y="0"/>
              <a:chExt cx="900938" cy="62097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900938" cy="62097"/>
              </a:xfrm>
              <a:custGeom>
                <a:avLst/>
                <a:gdLst/>
                <a:ahLst/>
                <a:cxnLst/>
                <a:rect l="l" t="t" r="r" b="b"/>
                <a:pathLst>
                  <a:path w="900938" h="62097">
                    <a:moveTo>
                      <a:pt x="0" y="0"/>
                    </a:moveTo>
                    <a:lnTo>
                      <a:pt x="900938" y="0"/>
                    </a:lnTo>
                    <a:lnTo>
                      <a:pt x="900938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6C928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-28575"/>
                <a:ext cx="900938" cy="906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921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30" name="Group 30"/>
          <p:cNvGrpSpPr/>
          <p:nvPr/>
        </p:nvGrpSpPr>
        <p:grpSpPr>
          <a:xfrm rot="-5400000">
            <a:off x="1126558" y="5307992"/>
            <a:ext cx="3598580" cy="4114800"/>
            <a:chOff x="0" y="0"/>
            <a:chExt cx="4798106" cy="5486400"/>
          </a:xfrm>
        </p:grpSpPr>
        <p:grpSp>
          <p:nvGrpSpPr>
            <p:cNvPr id="31" name="Group 31"/>
            <p:cNvGrpSpPr/>
            <p:nvPr/>
          </p:nvGrpSpPr>
          <p:grpSpPr>
            <a:xfrm>
              <a:off x="0" y="359656"/>
              <a:ext cx="4798106" cy="314368"/>
              <a:chOff x="0" y="0"/>
              <a:chExt cx="947774" cy="62097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947774" cy="62097"/>
              </a:xfrm>
              <a:custGeom>
                <a:avLst/>
                <a:gdLst/>
                <a:ahLst/>
                <a:cxnLst/>
                <a:rect l="l" t="t" r="r" b="b"/>
                <a:pathLst>
                  <a:path w="947774" h="62097">
                    <a:moveTo>
                      <a:pt x="0" y="0"/>
                    </a:moveTo>
                    <a:lnTo>
                      <a:pt x="947774" y="0"/>
                    </a:lnTo>
                    <a:lnTo>
                      <a:pt x="947774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6C928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0" y="-28575"/>
                <a:ext cx="947774" cy="906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921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0" y="925401"/>
              <a:ext cx="3675307" cy="314368"/>
              <a:chOff x="0" y="0"/>
              <a:chExt cx="725987" cy="62097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725987" cy="62097"/>
              </a:xfrm>
              <a:custGeom>
                <a:avLst/>
                <a:gdLst/>
                <a:ahLst/>
                <a:cxnLst/>
                <a:rect l="l" t="t" r="r" b="b"/>
                <a:pathLst>
                  <a:path w="725987" h="62097">
                    <a:moveTo>
                      <a:pt x="0" y="0"/>
                    </a:moveTo>
                    <a:lnTo>
                      <a:pt x="725987" y="0"/>
                    </a:lnTo>
                    <a:lnTo>
                      <a:pt x="725987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6C928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0" y="-28575"/>
                <a:ext cx="725987" cy="906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921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 rot="-5400000">
              <a:off x="-650594" y="1538808"/>
              <a:ext cx="3391984" cy="314368"/>
              <a:chOff x="0" y="0"/>
              <a:chExt cx="670022" cy="62097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670022" cy="62097"/>
              </a:xfrm>
              <a:custGeom>
                <a:avLst/>
                <a:gdLst/>
                <a:ahLst/>
                <a:cxnLst/>
                <a:rect l="l" t="t" r="r" b="b"/>
                <a:pathLst>
                  <a:path w="670022" h="62097">
                    <a:moveTo>
                      <a:pt x="0" y="0"/>
                    </a:moveTo>
                    <a:lnTo>
                      <a:pt x="670022" y="0"/>
                    </a:lnTo>
                    <a:lnTo>
                      <a:pt x="670022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6C928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0" y="-28575"/>
                <a:ext cx="670022" cy="906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921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 rot="-5400000">
              <a:off x="-2123316" y="3048717"/>
              <a:ext cx="4560999" cy="314368"/>
              <a:chOff x="0" y="0"/>
              <a:chExt cx="900938" cy="62097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900938" cy="62097"/>
              </a:xfrm>
              <a:custGeom>
                <a:avLst/>
                <a:gdLst/>
                <a:ahLst/>
                <a:cxnLst/>
                <a:rect l="l" t="t" r="r" b="b"/>
                <a:pathLst>
                  <a:path w="900938" h="62097">
                    <a:moveTo>
                      <a:pt x="0" y="0"/>
                    </a:moveTo>
                    <a:lnTo>
                      <a:pt x="900938" y="0"/>
                    </a:lnTo>
                    <a:lnTo>
                      <a:pt x="900938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6C928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0" y="-28575"/>
                <a:ext cx="900938" cy="906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921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43" name="Group 43"/>
          <p:cNvGrpSpPr/>
          <p:nvPr/>
        </p:nvGrpSpPr>
        <p:grpSpPr>
          <a:xfrm rot="5400000">
            <a:off x="13614746" y="733106"/>
            <a:ext cx="3598580" cy="4114800"/>
            <a:chOff x="0" y="0"/>
            <a:chExt cx="4798106" cy="54864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359656"/>
              <a:ext cx="4798106" cy="314368"/>
              <a:chOff x="0" y="0"/>
              <a:chExt cx="947774" cy="62097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947774" cy="62097"/>
              </a:xfrm>
              <a:custGeom>
                <a:avLst/>
                <a:gdLst/>
                <a:ahLst/>
                <a:cxnLst/>
                <a:rect l="l" t="t" r="r" b="b"/>
                <a:pathLst>
                  <a:path w="947774" h="62097">
                    <a:moveTo>
                      <a:pt x="0" y="0"/>
                    </a:moveTo>
                    <a:lnTo>
                      <a:pt x="947774" y="0"/>
                    </a:lnTo>
                    <a:lnTo>
                      <a:pt x="947774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365B6D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0" y="-28575"/>
                <a:ext cx="947774" cy="906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921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0" y="925401"/>
              <a:ext cx="3675307" cy="314368"/>
              <a:chOff x="0" y="0"/>
              <a:chExt cx="725987" cy="62097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725987" cy="62097"/>
              </a:xfrm>
              <a:custGeom>
                <a:avLst/>
                <a:gdLst/>
                <a:ahLst/>
                <a:cxnLst/>
                <a:rect l="l" t="t" r="r" b="b"/>
                <a:pathLst>
                  <a:path w="725987" h="62097">
                    <a:moveTo>
                      <a:pt x="0" y="0"/>
                    </a:moveTo>
                    <a:lnTo>
                      <a:pt x="725987" y="0"/>
                    </a:lnTo>
                    <a:lnTo>
                      <a:pt x="725987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365B6D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0" y="-28575"/>
                <a:ext cx="725987" cy="906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921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 rot="-5400000">
              <a:off x="-650594" y="1538808"/>
              <a:ext cx="3391984" cy="314368"/>
              <a:chOff x="0" y="0"/>
              <a:chExt cx="670022" cy="62097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0" y="0"/>
                <a:ext cx="670022" cy="62097"/>
              </a:xfrm>
              <a:custGeom>
                <a:avLst/>
                <a:gdLst/>
                <a:ahLst/>
                <a:cxnLst/>
                <a:rect l="l" t="t" r="r" b="b"/>
                <a:pathLst>
                  <a:path w="670022" h="62097">
                    <a:moveTo>
                      <a:pt x="0" y="0"/>
                    </a:moveTo>
                    <a:lnTo>
                      <a:pt x="670022" y="0"/>
                    </a:lnTo>
                    <a:lnTo>
                      <a:pt x="670022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365B6D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0" y="-28575"/>
                <a:ext cx="670022" cy="906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921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 rot="-5400000">
              <a:off x="-2123316" y="3048717"/>
              <a:ext cx="4560999" cy="314368"/>
              <a:chOff x="0" y="0"/>
              <a:chExt cx="900938" cy="62097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0" y="0"/>
                <a:ext cx="900938" cy="62097"/>
              </a:xfrm>
              <a:custGeom>
                <a:avLst/>
                <a:gdLst/>
                <a:ahLst/>
                <a:cxnLst/>
                <a:rect l="l" t="t" r="r" b="b"/>
                <a:pathLst>
                  <a:path w="900938" h="62097">
                    <a:moveTo>
                      <a:pt x="0" y="0"/>
                    </a:moveTo>
                    <a:lnTo>
                      <a:pt x="900938" y="0"/>
                    </a:lnTo>
                    <a:lnTo>
                      <a:pt x="900938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365B6D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0" y="-28575"/>
                <a:ext cx="900938" cy="906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921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56" name="Group 56"/>
          <p:cNvGrpSpPr/>
          <p:nvPr/>
        </p:nvGrpSpPr>
        <p:grpSpPr>
          <a:xfrm rot="-10800000">
            <a:off x="6388878" y="8928906"/>
            <a:ext cx="5605872" cy="235776"/>
            <a:chOff x="0" y="0"/>
            <a:chExt cx="1476444" cy="62097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476444" cy="62097"/>
            </a:xfrm>
            <a:custGeom>
              <a:avLst/>
              <a:gdLst/>
              <a:ahLst/>
              <a:cxnLst/>
              <a:rect l="l" t="t" r="r" b="b"/>
              <a:pathLst>
                <a:path w="1476444" h="62097">
                  <a:moveTo>
                    <a:pt x="0" y="0"/>
                  </a:moveTo>
                  <a:lnTo>
                    <a:pt x="1476444" y="0"/>
                  </a:lnTo>
                  <a:lnTo>
                    <a:pt x="1476444" y="62097"/>
                  </a:lnTo>
                  <a:lnTo>
                    <a:pt x="0" y="62097"/>
                  </a:lnTo>
                  <a:close/>
                </a:path>
              </a:pathLst>
            </a:custGeom>
            <a:solidFill>
              <a:srgbClr val="365B6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-28575"/>
              <a:ext cx="1476444" cy="906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21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9" name="Group 59"/>
          <p:cNvGrpSpPr/>
          <p:nvPr/>
        </p:nvGrpSpPr>
        <p:grpSpPr>
          <a:xfrm rot="-10800000">
            <a:off x="7317640" y="8504598"/>
            <a:ext cx="3748348" cy="235776"/>
            <a:chOff x="0" y="0"/>
            <a:chExt cx="987219" cy="62097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987219" cy="62097"/>
            </a:xfrm>
            <a:custGeom>
              <a:avLst/>
              <a:gdLst/>
              <a:ahLst/>
              <a:cxnLst/>
              <a:rect l="l" t="t" r="r" b="b"/>
              <a:pathLst>
                <a:path w="987219" h="62097">
                  <a:moveTo>
                    <a:pt x="0" y="0"/>
                  </a:moveTo>
                  <a:lnTo>
                    <a:pt x="987219" y="0"/>
                  </a:lnTo>
                  <a:lnTo>
                    <a:pt x="987219" y="62097"/>
                  </a:lnTo>
                  <a:lnTo>
                    <a:pt x="0" y="62097"/>
                  </a:lnTo>
                  <a:close/>
                </a:path>
              </a:pathLst>
            </a:custGeom>
            <a:solidFill>
              <a:srgbClr val="365B6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-28575"/>
              <a:ext cx="987219" cy="906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21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2" name="Freeform 62"/>
          <p:cNvSpPr/>
          <p:nvPr/>
        </p:nvSpPr>
        <p:spPr>
          <a:xfrm>
            <a:off x="6923991" y="721474"/>
            <a:ext cx="4440017" cy="971823"/>
          </a:xfrm>
          <a:custGeom>
            <a:avLst/>
            <a:gdLst/>
            <a:ahLst/>
            <a:cxnLst/>
            <a:rect l="l" t="t" r="r" b="b"/>
            <a:pathLst>
              <a:path w="4440017" h="971823">
                <a:moveTo>
                  <a:pt x="0" y="0"/>
                </a:moveTo>
                <a:lnTo>
                  <a:pt x="4440018" y="0"/>
                </a:lnTo>
                <a:lnTo>
                  <a:pt x="4440018" y="971824"/>
                </a:lnTo>
                <a:lnTo>
                  <a:pt x="0" y="9718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63" name="Freeform 63"/>
          <p:cNvSpPr/>
          <p:nvPr/>
        </p:nvSpPr>
        <p:spPr>
          <a:xfrm>
            <a:off x="10708952" y="5120716"/>
            <a:ext cx="4695559" cy="3099440"/>
          </a:xfrm>
          <a:custGeom>
            <a:avLst/>
            <a:gdLst/>
            <a:ahLst/>
            <a:cxnLst/>
            <a:rect l="l" t="t" r="r" b="b"/>
            <a:pathLst>
              <a:path w="4695559" h="3099440">
                <a:moveTo>
                  <a:pt x="0" y="0"/>
                </a:moveTo>
                <a:lnTo>
                  <a:pt x="4695559" y="0"/>
                </a:lnTo>
                <a:lnTo>
                  <a:pt x="4695559" y="3099440"/>
                </a:lnTo>
                <a:lnTo>
                  <a:pt x="0" y="30994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64" name="TextBox 64"/>
          <p:cNvSpPr txBox="1"/>
          <p:nvPr/>
        </p:nvSpPr>
        <p:spPr>
          <a:xfrm>
            <a:off x="2708973" y="4853867"/>
            <a:ext cx="8663054" cy="3585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2"/>
              </a:lnSpc>
            </a:pPr>
            <a:r>
              <a:rPr lang="en-US" sz="2615" spc="-10">
                <a:solidFill>
                  <a:srgbClr val="6C9286"/>
                </a:solidFill>
                <a:latin typeface="Roboto"/>
                <a:ea typeface="Roboto"/>
                <a:cs typeface="Roboto"/>
                <a:sym typeface="Roboto"/>
              </a:rPr>
              <a:t>Integrantes:</a:t>
            </a:r>
          </a:p>
          <a:p>
            <a:pPr algn="l">
              <a:lnSpc>
                <a:spcPts val="3582"/>
              </a:lnSpc>
            </a:pPr>
            <a:r>
              <a:rPr lang="en-US" sz="2615" spc="-10">
                <a:solidFill>
                  <a:srgbClr val="6C9286"/>
                </a:solidFill>
                <a:latin typeface="Roboto"/>
                <a:ea typeface="Roboto"/>
                <a:cs typeface="Roboto"/>
                <a:sym typeface="Roboto"/>
              </a:rPr>
              <a:t>- Romainville Barrionuevo, Camilo Jesús</a:t>
            </a:r>
          </a:p>
          <a:p>
            <a:pPr algn="l">
              <a:lnSpc>
                <a:spcPts val="3582"/>
              </a:lnSpc>
            </a:pPr>
            <a:r>
              <a:rPr lang="en-US" sz="2615" spc="-10">
                <a:solidFill>
                  <a:srgbClr val="6C9286"/>
                </a:solidFill>
                <a:latin typeface="Roboto"/>
                <a:ea typeface="Roboto"/>
                <a:cs typeface="Roboto"/>
                <a:sym typeface="Roboto"/>
              </a:rPr>
              <a:t>- Alocén de la Cruz, Saul Junior</a:t>
            </a:r>
          </a:p>
          <a:p>
            <a:pPr algn="l">
              <a:lnSpc>
                <a:spcPts val="3582"/>
              </a:lnSpc>
            </a:pPr>
            <a:r>
              <a:rPr lang="en-US" sz="2615" spc="-10">
                <a:solidFill>
                  <a:srgbClr val="6C9286"/>
                </a:solidFill>
                <a:latin typeface="Roboto"/>
                <a:ea typeface="Roboto"/>
                <a:cs typeface="Roboto"/>
                <a:sym typeface="Roboto"/>
              </a:rPr>
              <a:t>- Esquivel Giraldo, Hiram Renato</a:t>
            </a:r>
          </a:p>
          <a:p>
            <a:pPr algn="l">
              <a:lnSpc>
                <a:spcPts val="3582"/>
              </a:lnSpc>
            </a:pPr>
            <a:r>
              <a:rPr lang="en-US" sz="2615" spc="-10">
                <a:solidFill>
                  <a:srgbClr val="6C9286"/>
                </a:solidFill>
                <a:latin typeface="Roboto"/>
                <a:ea typeface="Roboto"/>
                <a:cs typeface="Roboto"/>
                <a:sym typeface="Roboto"/>
              </a:rPr>
              <a:t>- Carmona Cerazo, Abram Yexuan</a:t>
            </a:r>
          </a:p>
          <a:p>
            <a:pPr algn="l">
              <a:lnSpc>
                <a:spcPts val="3582"/>
              </a:lnSpc>
            </a:pPr>
            <a:r>
              <a:rPr lang="en-US" sz="2615" spc="-10">
                <a:solidFill>
                  <a:srgbClr val="6C9286"/>
                </a:solidFill>
                <a:latin typeface="Roboto"/>
                <a:ea typeface="Roboto"/>
                <a:cs typeface="Roboto"/>
                <a:sym typeface="Roboto"/>
              </a:rPr>
              <a:t>- Huaman Ramos, Jhonatan Rodrigo</a:t>
            </a:r>
          </a:p>
          <a:p>
            <a:pPr algn="l">
              <a:lnSpc>
                <a:spcPts val="3582"/>
              </a:lnSpc>
            </a:pPr>
            <a:r>
              <a:rPr lang="en-US" sz="2615" spc="-10">
                <a:solidFill>
                  <a:srgbClr val="6C9286"/>
                </a:solidFill>
                <a:latin typeface="Roboto"/>
                <a:ea typeface="Roboto"/>
                <a:cs typeface="Roboto"/>
                <a:sym typeface="Roboto"/>
              </a:rPr>
              <a:t>- Carbajal Coral, Joshua</a:t>
            </a:r>
          </a:p>
          <a:p>
            <a:pPr algn="ctr">
              <a:lnSpc>
                <a:spcPts val="3582"/>
              </a:lnSpc>
            </a:pPr>
            <a:endParaRPr lang="en-US" sz="2615" spc="-10">
              <a:solidFill>
                <a:srgbClr val="6C928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493174" y="1767118"/>
            <a:ext cx="8972550" cy="6738247"/>
            <a:chOff x="0" y="0"/>
            <a:chExt cx="11963400" cy="8984329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l="2692" r="1932"/>
            <a:stretch>
              <a:fillRect/>
            </a:stretch>
          </p:blipFill>
          <p:spPr>
            <a:xfrm>
              <a:off x="0" y="0"/>
              <a:ext cx="11963400" cy="8984329"/>
            </a:xfrm>
            <a:prstGeom prst="rect">
              <a:avLst/>
            </a:prstGeom>
          </p:spPr>
        </p:pic>
      </p:grpSp>
      <p:sp>
        <p:nvSpPr>
          <p:cNvPr id="4" name="TextBox 4"/>
          <p:cNvSpPr txBox="1"/>
          <p:nvPr/>
        </p:nvSpPr>
        <p:spPr>
          <a:xfrm>
            <a:off x="371818" y="1035193"/>
            <a:ext cx="9771254" cy="1693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408"/>
              </a:lnSpc>
              <a:spcBef>
                <a:spcPct val="0"/>
              </a:spcBef>
            </a:pPr>
            <a:r>
              <a:rPr lang="en-US" sz="7200" b="1">
                <a:solidFill>
                  <a:srgbClr val="365B6D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PLANTEAMIENTO DEL PROBLEMA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5150722" y="1234804"/>
            <a:ext cx="3748348" cy="235776"/>
            <a:chOff x="0" y="0"/>
            <a:chExt cx="987219" cy="6209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87219" cy="62097"/>
            </a:xfrm>
            <a:custGeom>
              <a:avLst/>
              <a:gdLst/>
              <a:ahLst/>
              <a:cxnLst/>
              <a:rect l="l" t="t" r="r" b="b"/>
              <a:pathLst>
                <a:path w="987219" h="62097">
                  <a:moveTo>
                    <a:pt x="0" y="0"/>
                  </a:moveTo>
                  <a:lnTo>
                    <a:pt x="987219" y="0"/>
                  </a:lnTo>
                  <a:lnTo>
                    <a:pt x="987219" y="62097"/>
                  </a:lnTo>
                  <a:lnTo>
                    <a:pt x="0" y="62097"/>
                  </a:lnTo>
                  <a:close/>
                </a:path>
              </a:pathLst>
            </a:custGeom>
            <a:solidFill>
              <a:srgbClr val="6C928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987219" cy="906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21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893855" y="8695865"/>
            <a:ext cx="3748348" cy="235776"/>
            <a:chOff x="0" y="0"/>
            <a:chExt cx="987219" cy="6209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87219" cy="62097"/>
            </a:xfrm>
            <a:custGeom>
              <a:avLst/>
              <a:gdLst/>
              <a:ahLst/>
              <a:cxnLst/>
              <a:rect l="l" t="t" r="r" b="b"/>
              <a:pathLst>
                <a:path w="987219" h="62097">
                  <a:moveTo>
                    <a:pt x="0" y="0"/>
                  </a:moveTo>
                  <a:lnTo>
                    <a:pt x="987219" y="0"/>
                  </a:lnTo>
                  <a:lnTo>
                    <a:pt x="987219" y="62097"/>
                  </a:lnTo>
                  <a:lnTo>
                    <a:pt x="0" y="62097"/>
                  </a:lnTo>
                  <a:close/>
                </a:path>
              </a:pathLst>
            </a:custGeom>
            <a:solidFill>
              <a:srgbClr val="6C928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987219" cy="906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21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4230364" y="1659112"/>
            <a:ext cx="3748348" cy="235776"/>
            <a:chOff x="0" y="0"/>
            <a:chExt cx="987219" cy="6209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87219" cy="62097"/>
            </a:xfrm>
            <a:custGeom>
              <a:avLst/>
              <a:gdLst/>
              <a:ahLst/>
              <a:cxnLst/>
              <a:rect l="l" t="t" r="r" b="b"/>
              <a:pathLst>
                <a:path w="987219" h="62097">
                  <a:moveTo>
                    <a:pt x="0" y="0"/>
                  </a:moveTo>
                  <a:lnTo>
                    <a:pt x="987219" y="0"/>
                  </a:lnTo>
                  <a:lnTo>
                    <a:pt x="987219" y="62097"/>
                  </a:lnTo>
                  <a:lnTo>
                    <a:pt x="0" y="62097"/>
                  </a:lnTo>
                  <a:close/>
                </a:path>
              </a:pathLst>
            </a:custGeom>
            <a:solidFill>
              <a:srgbClr val="365B6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987219" cy="906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21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973497" y="9120174"/>
            <a:ext cx="3748348" cy="235776"/>
            <a:chOff x="0" y="0"/>
            <a:chExt cx="987219" cy="6209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87219" cy="62097"/>
            </a:xfrm>
            <a:custGeom>
              <a:avLst/>
              <a:gdLst/>
              <a:ahLst/>
              <a:cxnLst/>
              <a:rect l="l" t="t" r="r" b="b"/>
              <a:pathLst>
                <a:path w="987219" h="62097">
                  <a:moveTo>
                    <a:pt x="0" y="0"/>
                  </a:moveTo>
                  <a:lnTo>
                    <a:pt x="987219" y="0"/>
                  </a:lnTo>
                  <a:lnTo>
                    <a:pt x="987219" y="62097"/>
                  </a:lnTo>
                  <a:lnTo>
                    <a:pt x="0" y="62097"/>
                  </a:lnTo>
                  <a:close/>
                </a:path>
              </a:pathLst>
            </a:custGeom>
            <a:solidFill>
              <a:srgbClr val="365B6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987219" cy="906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21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754053" y="3051985"/>
            <a:ext cx="8156323" cy="5453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365B6D"/>
                </a:solidFill>
                <a:latin typeface="Roboto Bold"/>
                <a:ea typeface="Roboto Bold"/>
                <a:cs typeface="Roboto Bold"/>
                <a:sym typeface="Roboto Bold"/>
              </a:rPr>
              <a:t>. Realidad problemática: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- Dificultades en localizar personas atrapadas tras desastres.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- Riesgos para rescatistas con métodos tradicionales.</a:t>
            </a:r>
          </a:p>
          <a:p>
            <a:pPr algn="l">
              <a:lnSpc>
                <a:spcPts val="3919"/>
              </a:lnSpc>
            </a:pPr>
            <a:endParaRPr lang="en-US" sz="2799">
              <a:solidFill>
                <a:srgbClr val="365B6D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365B6D"/>
                </a:solidFill>
                <a:latin typeface="Roboto Bold"/>
                <a:ea typeface="Roboto Bold"/>
                <a:cs typeface="Roboto Bold"/>
                <a:sym typeface="Roboto Bold"/>
              </a:rPr>
              <a:t>. Problema central: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¿Puede un robot con IA equipado con sensores faciales y acústicos mejorar la localización de personas en derrumbes?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endParaRPr lang="en-US" sz="2799">
              <a:solidFill>
                <a:srgbClr val="365B6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50281" y="1847805"/>
            <a:ext cx="14114108" cy="883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408"/>
              </a:lnSpc>
              <a:spcBef>
                <a:spcPct val="0"/>
              </a:spcBef>
            </a:pPr>
            <a:r>
              <a:rPr lang="en-US" sz="7200" b="1">
                <a:solidFill>
                  <a:srgbClr val="365B6D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FORMULACIÓN DEL PROBLEMA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550281" y="3099079"/>
            <a:ext cx="4738980" cy="974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8"/>
              </a:lnSpc>
            </a:pPr>
            <a:r>
              <a:rPr lang="en-US" sz="4200" b="1">
                <a:solidFill>
                  <a:srgbClr val="365B6D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Problema general:</a:t>
            </a:r>
          </a:p>
          <a:p>
            <a:pPr marL="0" lvl="0" indent="0" algn="l">
              <a:lnSpc>
                <a:spcPts val="3738"/>
              </a:lnSpc>
              <a:spcBef>
                <a:spcPct val="0"/>
              </a:spcBef>
            </a:pPr>
            <a:endParaRPr lang="en-US" sz="4200" b="1">
              <a:solidFill>
                <a:srgbClr val="365B6D"/>
              </a:solidFill>
              <a:latin typeface="Monterchi Serif Bold"/>
              <a:ea typeface="Monterchi Serif Bold"/>
              <a:cs typeface="Monterchi Serif Bold"/>
              <a:sym typeface="Monterchi Serif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973497" y="3099079"/>
            <a:ext cx="5350035" cy="974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8"/>
              </a:lnSpc>
            </a:pPr>
            <a:r>
              <a:rPr lang="en-US" sz="4200" b="1">
                <a:solidFill>
                  <a:srgbClr val="365B6D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Problemas específicos:</a:t>
            </a:r>
          </a:p>
          <a:p>
            <a:pPr marL="0" lvl="0" indent="0" algn="l">
              <a:lnSpc>
                <a:spcPts val="3738"/>
              </a:lnSpc>
              <a:spcBef>
                <a:spcPct val="0"/>
              </a:spcBef>
            </a:pPr>
            <a:endParaRPr lang="en-US" sz="4200" b="1">
              <a:solidFill>
                <a:srgbClr val="365B6D"/>
              </a:solidFill>
              <a:latin typeface="Monterchi Serif Bold"/>
              <a:ea typeface="Monterchi Serif Bold"/>
              <a:cs typeface="Monterchi Serif Bold"/>
              <a:sym typeface="Monterchi Serif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550281" y="4127124"/>
            <a:ext cx="6895498" cy="2156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73"/>
              </a:lnSpc>
            </a:pPr>
            <a:r>
              <a:rPr lang="en-US" sz="3052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¿Cómo puede un robot con IA equipado con sensores faciales y acústicos mejorar la localización de personas?</a:t>
            </a:r>
          </a:p>
          <a:p>
            <a:pPr algn="l">
              <a:lnSpc>
                <a:spcPts val="4273"/>
              </a:lnSpc>
            </a:pPr>
            <a:endParaRPr lang="en-US" sz="3052">
              <a:solidFill>
                <a:srgbClr val="365B6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9973497" y="4097143"/>
            <a:ext cx="6895498" cy="3977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5337" lvl="1" indent="-302668" algn="l">
              <a:lnSpc>
                <a:spcPts val="3925"/>
              </a:lnSpc>
              <a:buFont typeface="Arial"/>
              <a:buChar char="•"/>
            </a:pPr>
            <a:r>
              <a:rPr lang="en-US" sz="2803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Influencia del nivel de entrenamiento de la IA.</a:t>
            </a:r>
          </a:p>
          <a:p>
            <a:pPr marL="605337" lvl="1" indent="-302668" algn="l">
              <a:lnSpc>
                <a:spcPts val="3925"/>
              </a:lnSpc>
              <a:buFont typeface="Arial"/>
              <a:buChar char="•"/>
            </a:pPr>
            <a:r>
              <a:rPr lang="en-US" sz="2803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Precisión del sensor facial en baja visibilidad.</a:t>
            </a:r>
          </a:p>
          <a:p>
            <a:pPr marL="605337" lvl="1" indent="-302668" algn="l">
              <a:lnSpc>
                <a:spcPts val="3925"/>
              </a:lnSpc>
              <a:buFont typeface="Arial"/>
              <a:buChar char="•"/>
            </a:pPr>
            <a:r>
              <a:rPr lang="en-US" sz="2803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Comparación entre uso de uno vs dos sensores. Relación entre potencia del sensor y distancia.</a:t>
            </a:r>
          </a:p>
          <a:p>
            <a:pPr algn="l">
              <a:lnSpc>
                <a:spcPts val="3925"/>
              </a:lnSpc>
            </a:pPr>
            <a:endParaRPr lang="en-US" sz="2803">
              <a:solidFill>
                <a:srgbClr val="365B6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1550281" y="3607278"/>
            <a:ext cx="3447749" cy="235776"/>
            <a:chOff x="0" y="0"/>
            <a:chExt cx="908049" cy="6209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08049" cy="62097"/>
            </a:xfrm>
            <a:custGeom>
              <a:avLst/>
              <a:gdLst/>
              <a:ahLst/>
              <a:cxnLst/>
              <a:rect l="l" t="t" r="r" b="b"/>
              <a:pathLst>
                <a:path w="908049" h="62097">
                  <a:moveTo>
                    <a:pt x="0" y="0"/>
                  </a:moveTo>
                  <a:lnTo>
                    <a:pt x="908049" y="0"/>
                  </a:lnTo>
                  <a:lnTo>
                    <a:pt x="908049" y="62097"/>
                  </a:lnTo>
                  <a:lnTo>
                    <a:pt x="0" y="62097"/>
                  </a:lnTo>
                  <a:close/>
                </a:path>
              </a:pathLst>
            </a:custGeom>
            <a:solidFill>
              <a:srgbClr val="6C928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28575"/>
              <a:ext cx="908049" cy="906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21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973497" y="3607278"/>
            <a:ext cx="3447749" cy="235776"/>
            <a:chOff x="0" y="0"/>
            <a:chExt cx="908049" cy="6209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08049" cy="62097"/>
            </a:xfrm>
            <a:custGeom>
              <a:avLst/>
              <a:gdLst/>
              <a:ahLst/>
              <a:cxnLst/>
              <a:rect l="l" t="t" r="r" b="b"/>
              <a:pathLst>
                <a:path w="908049" h="62097">
                  <a:moveTo>
                    <a:pt x="0" y="0"/>
                  </a:moveTo>
                  <a:lnTo>
                    <a:pt x="908049" y="0"/>
                  </a:lnTo>
                  <a:lnTo>
                    <a:pt x="908049" y="62097"/>
                  </a:lnTo>
                  <a:lnTo>
                    <a:pt x="0" y="62097"/>
                  </a:lnTo>
                  <a:close/>
                </a:path>
              </a:pathLst>
            </a:custGeom>
            <a:solidFill>
              <a:srgbClr val="6C928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908049" cy="906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21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998030" y="3607278"/>
            <a:ext cx="3447749" cy="235776"/>
            <a:chOff x="0" y="0"/>
            <a:chExt cx="908049" cy="6209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08049" cy="62097"/>
            </a:xfrm>
            <a:custGeom>
              <a:avLst/>
              <a:gdLst/>
              <a:ahLst/>
              <a:cxnLst/>
              <a:rect l="l" t="t" r="r" b="b"/>
              <a:pathLst>
                <a:path w="908049" h="62097">
                  <a:moveTo>
                    <a:pt x="0" y="0"/>
                  </a:moveTo>
                  <a:lnTo>
                    <a:pt x="908049" y="0"/>
                  </a:lnTo>
                  <a:lnTo>
                    <a:pt x="908049" y="62097"/>
                  </a:lnTo>
                  <a:lnTo>
                    <a:pt x="0" y="62097"/>
                  </a:lnTo>
                  <a:close/>
                </a:path>
              </a:pathLst>
            </a:custGeom>
            <a:solidFill>
              <a:srgbClr val="365B6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908049" cy="906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21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421246" y="3607278"/>
            <a:ext cx="3447749" cy="235776"/>
            <a:chOff x="0" y="0"/>
            <a:chExt cx="908049" cy="6209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08049" cy="62097"/>
            </a:xfrm>
            <a:custGeom>
              <a:avLst/>
              <a:gdLst/>
              <a:ahLst/>
              <a:cxnLst/>
              <a:rect l="l" t="t" r="r" b="b"/>
              <a:pathLst>
                <a:path w="908049" h="62097">
                  <a:moveTo>
                    <a:pt x="0" y="0"/>
                  </a:moveTo>
                  <a:lnTo>
                    <a:pt x="908049" y="0"/>
                  </a:lnTo>
                  <a:lnTo>
                    <a:pt x="908049" y="62097"/>
                  </a:lnTo>
                  <a:lnTo>
                    <a:pt x="0" y="62097"/>
                  </a:lnTo>
                  <a:close/>
                </a:path>
              </a:pathLst>
            </a:custGeom>
            <a:solidFill>
              <a:srgbClr val="365B6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28575"/>
              <a:ext cx="908049" cy="906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21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50281" y="1847805"/>
            <a:ext cx="9291139" cy="883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408"/>
              </a:lnSpc>
              <a:spcBef>
                <a:spcPct val="0"/>
              </a:spcBef>
            </a:pPr>
            <a:r>
              <a:rPr lang="en-US" sz="7200" b="1">
                <a:solidFill>
                  <a:srgbClr val="365B6D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OBJETIVOS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550281" y="3099079"/>
            <a:ext cx="3014932" cy="508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38"/>
              </a:lnSpc>
              <a:spcBef>
                <a:spcPct val="0"/>
              </a:spcBef>
            </a:pPr>
            <a:r>
              <a:rPr lang="en-US" sz="4200" b="1">
                <a:solidFill>
                  <a:srgbClr val="365B6D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General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973497" y="3099079"/>
            <a:ext cx="3014932" cy="508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738"/>
              </a:lnSpc>
              <a:spcBef>
                <a:spcPct val="0"/>
              </a:spcBef>
            </a:pPr>
            <a:r>
              <a:rPr lang="en-US" sz="4200" b="1">
                <a:solidFill>
                  <a:srgbClr val="365B6D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Específicos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50281" y="4117599"/>
            <a:ext cx="6895498" cy="1830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42"/>
              </a:lnSpc>
            </a:pPr>
            <a:r>
              <a:rPr lang="en-US" sz="3458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Reducir el tiempo de búsqueda en rescates.</a:t>
            </a:r>
          </a:p>
          <a:p>
            <a:pPr algn="l">
              <a:lnSpc>
                <a:spcPts val="4842"/>
              </a:lnSpc>
            </a:pPr>
            <a:endParaRPr lang="en-US" sz="3458">
              <a:solidFill>
                <a:srgbClr val="365B6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9973497" y="4087618"/>
            <a:ext cx="6895498" cy="3840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7702" lvl="1" indent="-333851" algn="l">
              <a:lnSpc>
                <a:spcPts val="4329"/>
              </a:lnSpc>
              <a:buFont typeface="Arial"/>
              <a:buChar char="•"/>
            </a:pPr>
            <a:r>
              <a:rPr lang="en-US" sz="3092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Analizar el entrenamiento de la IA.</a:t>
            </a:r>
          </a:p>
          <a:p>
            <a:pPr marL="667702" lvl="1" indent="-333851" algn="l">
              <a:lnSpc>
                <a:spcPts val="4329"/>
              </a:lnSpc>
              <a:buFont typeface="Arial"/>
              <a:buChar char="•"/>
            </a:pPr>
            <a:r>
              <a:rPr lang="en-US" sz="3092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Evaluar la precisión del sensor facial.</a:t>
            </a:r>
          </a:p>
          <a:p>
            <a:pPr marL="667702" lvl="1" indent="-333851" algn="l">
              <a:lnSpc>
                <a:spcPts val="4329"/>
              </a:lnSpc>
              <a:buFont typeface="Arial"/>
              <a:buChar char="•"/>
            </a:pPr>
            <a:r>
              <a:rPr lang="en-US" sz="3092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Comparar la eficiencia de los sensores.</a:t>
            </a:r>
          </a:p>
          <a:p>
            <a:pPr marL="667702" lvl="1" indent="-333851" algn="l">
              <a:lnSpc>
                <a:spcPts val="4329"/>
              </a:lnSpc>
              <a:buFont typeface="Arial"/>
              <a:buChar char="•"/>
            </a:pPr>
            <a:r>
              <a:rPr lang="en-US" sz="3092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 Determinar la posición mediante la potencia por la distancia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550281" y="3607278"/>
            <a:ext cx="3447749" cy="235776"/>
            <a:chOff x="0" y="0"/>
            <a:chExt cx="908049" cy="6209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08049" cy="62097"/>
            </a:xfrm>
            <a:custGeom>
              <a:avLst/>
              <a:gdLst/>
              <a:ahLst/>
              <a:cxnLst/>
              <a:rect l="l" t="t" r="r" b="b"/>
              <a:pathLst>
                <a:path w="908049" h="62097">
                  <a:moveTo>
                    <a:pt x="0" y="0"/>
                  </a:moveTo>
                  <a:lnTo>
                    <a:pt x="908049" y="0"/>
                  </a:lnTo>
                  <a:lnTo>
                    <a:pt x="908049" y="62097"/>
                  </a:lnTo>
                  <a:lnTo>
                    <a:pt x="0" y="62097"/>
                  </a:lnTo>
                  <a:close/>
                </a:path>
              </a:pathLst>
            </a:custGeom>
            <a:solidFill>
              <a:srgbClr val="6C928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28575"/>
              <a:ext cx="908049" cy="906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21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973497" y="3607278"/>
            <a:ext cx="3447749" cy="235776"/>
            <a:chOff x="0" y="0"/>
            <a:chExt cx="908049" cy="6209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08049" cy="62097"/>
            </a:xfrm>
            <a:custGeom>
              <a:avLst/>
              <a:gdLst/>
              <a:ahLst/>
              <a:cxnLst/>
              <a:rect l="l" t="t" r="r" b="b"/>
              <a:pathLst>
                <a:path w="908049" h="62097">
                  <a:moveTo>
                    <a:pt x="0" y="0"/>
                  </a:moveTo>
                  <a:lnTo>
                    <a:pt x="908049" y="0"/>
                  </a:lnTo>
                  <a:lnTo>
                    <a:pt x="908049" y="62097"/>
                  </a:lnTo>
                  <a:lnTo>
                    <a:pt x="0" y="62097"/>
                  </a:lnTo>
                  <a:close/>
                </a:path>
              </a:pathLst>
            </a:custGeom>
            <a:solidFill>
              <a:srgbClr val="6C928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908049" cy="906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21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998030" y="3607278"/>
            <a:ext cx="3447749" cy="235776"/>
            <a:chOff x="0" y="0"/>
            <a:chExt cx="908049" cy="6209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08049" cy="62097"/>
            </a:xfrm>
            <a:custGeom>
              <a:avLst/>
              <a:gdLst/>
              <a:ahLst/>
              <a:cxnLst/>
              <a:rect l="l" t="t" r="r" b="b"/>
              <a:pathLst>
                <a:path w="908049" h="62097">
                  <a:moveTo>
                    <a:pt x="0" y="0"/>
                  </a:moveTo>
                  <a:lnTo>
                    <a:pt x="908049" y="0"/>
                  </a:lnTo>
                  <a:lnTo>
                    <a:pt x="908049" y="62097"/>
                  </a:lnTo>
                  <a:lnTo>
                    <a:pt x="0" y="62097"/>
                  </a:lnTo>
                  <a:close/>
                </a:path>
              </a:pathLst>
            </a:custGeom>
            <a:solidFill>
              <a:srgbClr val="365B6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908049" cy="906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21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421246" y="3607278"/>
            <a:ext cx="3447749" cy="235776"/>
            <a:chOff x="0" y="0"/>
            <a:chExt cx="908049" cy="6209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08049" cy="62097"/>
            </a:xfrm>
            <a:custGeom>
              <a:avLst/>
              <a:gdLst/>
              <a:ahLst/>
              <a:cxnLst/>
              <a:rect l="l" t="t" r="r" b="b"/>
              <a:pathLst>
                <a:path w="908049" h="62097">
                  <a:moveTo>
                    <a:pt x="0" y="0"/>
                  </a:moveTo>
                  <a:lnTo>
                    <a:pt x="908049" y="0"/>
                  </a:lnTo>
                  <a:lnTo>
                    <a:pt x="908049" y="62097"/>
                  </a:lnTo>
                  <a:lnTo>
                    <a:pt x="0" y="62097"/>
                  </a:lnTo>
                  <a:close/>
                </a:path>
              </a:pathLst>
            </a:custGeom>
            <a:solidFill>
              <a:srgbClr val="365B6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28575"/>
              <a:ext cx="908049" cy="906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21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98430" y="1804158"/>
            <a:ext cx="9291139" cy="883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408"/>
              </a:lnSpc>
              <a:spcBef>
                <a:spcPct val="0"/>
              </a:spcBef>
            </a:pPr>
            <a:r>
              <a:rPr lang="en-US" sz="7200" b="1">
                <a:solidFill>
                  <a:srgbClr val="365B6D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JUSTIFICACIÒN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550281" y="4098549"/>
            <a:ext cx="12852061" cy="2889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14"/>
              </a:lnSpc>
            </a:pPr>
            <a:r>
              <a:rPr lang="en-US" sz="4081" dirty="0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r>
              <a:rPr lang="en-US" sz="4081" dirty="0" err="1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Perros</a:t>
            </a:r>
            <a:r>
              <a:rPr lang="en-US" sz="4081" dirty="0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4081" dirty="0" err="1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rescatistas</a:t>
            </a:r>
            <a:r>
              <a:rPr lang="en-US" sz="4081" dirty="0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4081" dirty="0" err="1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tienen</a:t>
            </a:r>
            <a:r>
              <a:rPr lang="en-US" sz="4081" dirty="0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4081" dirty="0" err="1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limitaciones</a:t>
            </a:r>
            <a:r>
              <a:rPr lang="en-US" sz="4081" dirty="0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 (</a:t>
            </a:r>
            <a:r>
              <a:rPr lang="en-US" sz="4081" dirty="0" err="1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ruido</a:t>
            </a:r>
            <a:r>
              <a:rPr lang="en-US" sz="4081" dirty="0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4081" dirty="0" err="1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acceso</a:t>
            </a:r>
            <a:r>
              <a:rPr lang="en-US" sz="4081" dirty="0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</a:p>
          <a:p>
            <a:pPr algn="l">
              <a:lnSpc>
                <a:spcPts val="5714"/>
              </a:lnSpc>
            </a:pPr>
            <a:r>
              <a:rPr lang="en-US" sz="4081" dirty="0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•La IA </a:t>
            </a:r>
            <a:r>
              <a:rPr lang="en-US" sz="4081" dirty="0" err="1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filtra</a:t>
            </a:r>
            <a:r>
              <a:rPr lang="en-US" sz="4081" dirty="0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4081" dirty="0" err="1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sonidos</a:t>
            </a:r>
            <a:r>
              <a:rPr lang="en-US" sz="4081" dirty="0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4081" dirty="0" err="1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humanos</a:t>
            </a:r>
            <a:r>
              <a:rPr lang="en-US" sz="4081" dirty="0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4081" dirty="0" err="1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relevantes</a:t>
            </a:r>
            <a:r>
              <a:rPr lang="en-US" sz="4081" dirty="0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</a:p>
          <a:p>
            <a:pPr algn="l">
              <a:lnSpc>
                <a:spcPts val="5714"/>
              </a:lnSpc>
            </a:pPr>
            <a:r>
              <a:rPr lang="en-US" sz="4081" dirty="0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•Reduce </a:t>
            </a:r>
            <a:r>
              <a:rPr lang="en-US" sz="4081" dirty="0" err="1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riesgo</a:t>
            </a:r>
            <a:r>
              <a:rPr lang="en-US" sz="4081" dirty="0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 para </a:t>
            </a:r>
            <a:r>
              <a:rPr lang="en-US" sz="4081" dirty="0" err="1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rescatistas</a:t>
            </a:r>
            <a:r>
              <a:rPr lang="en-US" sz="4081" dirty="0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</a:p>
          <a:p>
            <a:pPr algn="l">
              <a:lnSpc>
                <a:spcPts val="5714"/>
              </a:lnSpc>
            </a:pPr>
            <a:endParaRPr lang="en-US" sz="4081" dirty="0">
              <a:solidFill>
                <a:srgbClr val="365B6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1550281" y="3607278"/>
            <a:ext cx="3447749" cy="235776"/>
            <a:chOff x="0" y="0"/>
            <a:chExt cx="908049" cy="6209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08049" cy="62097"/>
            </a:xfrm>
            <a:custGeom>
              <a:avLst/>
              <a:gdLst/>
              <a:ahLst/>
              <a:cxnLst/>
              <a:rect l="l" t="t" r="r" b="b"/>
              <a:pathLst>
                <a:path w="908049" h="62097">
                  <a:moveTo>
                    <a:pt x="0" y="0"/>
                  </a:moveTo>
                  <a:lnTo>
                    <a:pt x="908049" y="0"/>
                  </a:lnTo>
                  <a:lnTo>
                    <a:pt x="908049" y="62097"/>
                  </a:lnTo>
                  <a:lnTo>
                    <a:pt x="0" y="62097"/>
                  </a:lnTo>
                  <a:close/>
                </a:path>
              </a:pathLst>
            </a:custGeom>
            <a:solidFill>
              <a:srgbClr val="6C928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908049" cy="906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21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998030" y="3607278"/>
            <a:ext cx="3447749" cy="235776"/>
            <a:chOff x="0" y="0"/>
            <a:chExt cx="908049" cy="6209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08049" cy="62097"/>
            </a:xfrm>
            <a:custGeom>
              <a:avLst/>
              <a:gdLst/>
              <a:ahLst/>
              <a:cxnLst/>
              <a:rect l="l" t="t" r="r" b="b"/>
              <a:pathLst>
                <a:path w="908049" h="62097">
                  <a:moveTo>
                    <a:pt x="0" y="0"/>
                  </a:moveTo>
                  <a:lnTo>
                    <a:pt x="908049" y="0"/>
                  </a:lnTo>
                  <a:lnTo>
                    <a:pt x="908049" y="62097"/>
                  </a:lnTo>
                  <a:lnTo>
                    <a:pt x="0" y="62097"/>
                  </a:lnTo>
                  <a:close/>
                </a:path>
              </a:pathLst>
            </a:custGeom>
            <a:solidFill>
              <a:srgbClr val="365B6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28575"/>
              <a:ext cx="908049" cy="906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21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3105054" y="5921702"/>
            <a:ext cx="3164656" cy="3164656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38888" r="-38888"/>
              </a:stretch>
            </a:blipFill>
          </p:spPr>
          <p:txBody>
            <a:bodyPr/>
            <a:lstStyle/>
            <a:p>
              <a:endParaRPr lang="es-PE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E6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0"/>
            <a:ext cx="9144000" cy="10287000"/>
            <a:chOff x="0" y="0"/>
            <a:chExt cx="12192000" cy="13716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t="24003" b="12704"/>
            <a:stretch>
              <a:fillRect/>
            </a:stretch>
          </p:blipFill>
          <p:spPr>
            <a:xfrm>
              <a:off x="0" y="0"/>
              <a:ext cx="12192000" cy="13716000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7730005" y="8408152"/>
            <a:ext cx="1413995" cy="425840"/>
            <a:chOff x="0" y="0"/>
            <a:chExt cx="372410" cy="11215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72410" cy="112155"/>
            </a:xfrm>
            <a:custGeom>
              <a:avLst/>
              <a:gdLst/>
              <a:ahLst/>
              <a:cxnLst/>
              <a:rect l="l" t="t" r="r" b="b"/>
              <a:pathLst>
                <a:path w="372410" h="112155">
                  <a:moveTo>
                    <a:pt x="0" y="0"/>
                  </a:moveTo>
                  <a:lnTo>
                    <a:pt x="372410" y="0"/>
                  </a:lnTo>
                  <a:lnTo>
                    <a:pt x="372410" y="112155"/>
                  </a:lnTo>
                  <a:lnTo>
                    <a:pt x="0" y="112155"/>
                  </a:lnTo>
                  <a:close/>
                </a:path>
              </a:pathLst>
            </a:custGeom>
            <a:solidFill>
              <a:srgbClr val="6C928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372410" cy="140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21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809647" y="9002596"/>
            <a:ext cx="2334353" cy="255704"/>
            <a:chOff x="0" y="0"/>
            <a:chExt cx="614809" cy="6734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14809" cy="67346"/>
            </a:xfrm>
            <a:custGeom>
              <a:avLst/>
              <a:gdLst/>
              <a:ahLst/>
              <a:cxnLst/>
              <a:rect l="l" t="t" r="r" b="b"/>
              <a:pathLst>
                <a:path w="614809" h="67346">
                  <a:moveTo>
                    <a:pt x="0" y="0"/>
                  </a:moveTo>
                  <a:lnTo>
                    <a:pt x="614809" y="0"/>
                  </a:lnTo>
                  <a:lnTo>
                    <a:pt x="614809" y="67346"/>
                  </a:lnTo>
                  <a:lnTo>
                    <a:pt x="0" y="67346"/>
                  </a:lnTo>
                  <a:close/>
                </a:path>
              </a:pathLst>
            </a:custGeom>
            <a:solidFill>
              <a:srgbClr val="365B6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28575"/>
              <a:ext cx="614809" cy="959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21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220560" y="764040"/>
            <a:ext cx="6062640" cy="1693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408"/>
              </a:lnSpc>
              <a:spcBef>
                <a:spcPct val="0"/>
              </a:spcBef>
            </a:pPr>
            <a:r>
              <a:rPr lang="en-US" sz="7200" b="1">
                <a:solidFill>
                  <a:srgbClr val="365B6D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VARIABLES E HIPÓTESIS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2400054"/>
            <a:ext cx="6446359" cy="7353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6"/>
              </a:lnSpc>
            </a:pPr>
            <a:r>
              <a:rPr lang="en-US" sz="2568" dirty="0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Variables:</a:t>
            </a:r>
          </a:p>
          <a:p>
            <a:pPr marL="554627" lvl="1" indent="-277314" algn="l">
              <a:lnSpc>
                <a:spcPts val="3596"/>
              </a:lnSpc>
              <a:buFont typeface="Arial"/>
              <a:buChar char="•"/>
            </a:pPr>
            <a:r>
              <a:rPr lang="en-US" sz="2568" dirty="0" err="1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Independientes</a:t>
            </a:r>
            <a:r>
              <a:rPr lang="en-US" sz="2568" dirty="0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: Sensor facial, Sensor </a:t>
            </a:r>
            <a:r>
              <a:rPr lang="en-US" sz="2568" dirty="0" err="1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acústico</a:t>
            </a:r>
            <a:r>
              <a:rPr lang="en-US" sz="2568" dirty="0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</a:p>
          <a:p>
            <a:pPr marL="554627" lvl="1" indent="-277314" algn="l">
              <a:lnSpc>
                <a:spcPts val="3596"/>
              </a:lnSpc>
              <a:buFont typeface="Arial"/>
              <a:buChar char="•"/>
            </a:pPr>
            <a:r>
              <a:rPr lang="en-US" sz="2568" dirty="0" err="1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Dependientes</a:t>
            </a:r>
            <a:r>
              <a:rPr lang="en-US" sz="2568" dirty="0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2568" dirty="0" err="1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Precisión</a:t>
            </a:r>
            <a:r>
              <a:rPr lang="en-US" sz="2568" dirty="0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 del sensor facial, </a:t>
            </a:r>
            <a:r>
              <a:rPr lang="en-US" sz="2568" dirty="0" err="1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sensibilidad</a:t>
            </a:r>
            <a:r>
              <a:rPr lang="en-US" sz="2568" dirty="0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 del sensor </a:t>
            </a:r>
            <a:r>
              <a:rPr lang="en-US" sz="2568" dirty="0" err="1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acústico</a:t>
            </a:r>
            <a:r>
              <a:rPr lang="en-US" sz="2568" dirty="0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2568" dirty="0" err="1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potencia</a:t>
            </a:r>
            <a:r>
              <a:rPr lang="en-US" sz="2568" dirty="0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 del sensor </a:t>
            </a:r>
            <a:r>
              <a:rPr lang="en-US" sz="2568" dirty="0" err="1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acústico</a:t>
            </a:r>
            <a:r>
              <a:rPr lang="en-US" sz="2568" dirty="0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</a:p>
          <a:p>
            <a:pPr algn="l">
              <a:lnSpc>
                <a:spcPts val="3596"/>
              </a:lnSpc>
            </a:pPr>
            <a:endParaRPr lang="en-US" sz="2568" dirty="0">
              <a:solidFill>
                <a:srgbClr val="365B6D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l">
              <a:lnSpc>
                <a:spcPts val="3596"/>
              </a:lnSpc>
            </a:pPr>
            <a:r>
              <a:rPr lang="en-US" sz="2568" dirty="0" err="1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Hipótesis</a:t>
            </a:r>
            <a:r>
              <a:rPr lang="en-US" sz="2568" dirty="0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</a:p>
          <a:p>
            <a:pPr marL="554627" lvl="1" indent="-277314" algn="l">
              <a:lnSpc>
                <a:spcPts val="3596"/>
              </a:lnSpc>
              <a:buFont typeface="Arial"/>
              <a:buChar char="•"/>
            </a:pPr>
            <a:r>
              <a:rPr lang="en-US" sz="2568" dirty="0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Mayor </a:t>
            </a:r>
            <a:r>
              <a:rPr lang="en-US" sz="2568" dirty="0" err="1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tiempo</a:t>
            </a:r>
            <a:r>
              <a:rPr lang="en-US" sz="2568" dirty="0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 de </a:t>
            </a:r>
            <a:r>
              <a:rPr lang="en-US" sz="2568" dirty="0" err="1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entrenamiento</a:t>
            </a:r>
            <a:r>
              <a:rPr lang="en-US" sz="2568" dirty="0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 da </a:t>
            </a:r>
            <a:r>
              <a:rPr lang="en-US" sz="2568" dirty="0" err="1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mejor</a:t>
            </a:r>
            <a:r>
              <a:rPr lang="en-US" sz="2568" dirty="0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568" dirty="0" err="1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localización</a:t>
            </a:r>
            <a:r>
              <a:rPr lang="en-US" sz="2568" dirty="0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 de personas.</a:t>
            </a:r>
          </a:p>
          <a:p>
            <a:pPr marL="554627" lvl="1" indent="-277314" algn="l">
              <a:lnSpc>
                <a:spcPts val="3596"/>
              </a:lnSpc>
              <a:buFont typeface="Arial"/>
              <a:buChar char="•"/>
            </a:pPr>
            <a:r>
              <a:rPr lang="en-US" sz="2568" dirty="0" err="1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Sensibilidad</a:t>
            </a:r>
            <a:r>
              <a:rPr lang="en-US" sz="2568" dirty="0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568" dirty="0" smtClean="0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del sensor facial</a:t>
            </a:r>
            <a:r>
              <a:rPr lang="en-US" sz="2568" dirty="0" smtClean="0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568" dirty="0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se reduce </a:t>
            </a:r>
            <a:r>
              <a:rPr lang="en-US" sz="2568" dirty="0" err="1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debido</a:t>
            </a:r>
            <a:r>
              <a:rPr lang="en-US" sz="2568" dirty="0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 a la </a:t>
            </a:r>
            <a:r>
              <a:rPr lang="en-US" sz="2568" dirty="0" err="1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baja</a:t>
            </a:r>
            <a:r>
              <a:rPr lang="en-US" sz="2568" dirty="0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568" dirty="0" err="1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iluminación</a:t>
            </a:r>
            <a:r>
              <a:rPr lang="en-US" sz="2568" dirty="0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</a:p>
          <a:p>
            <a:pPr marL="554627" lvl="1" indent="-277314" algn="l">
              <a:lnSpc>
                <a:spcPts val="3596"/>
              </a:lnSpc>
              <a:buFont typeface="Arial"/>
              <a:buChar char="•"/>
            </a:pPr>
            <a:r>
              <a:rPr lang="en-US" sz="2568" dirty="0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Dos </a:t>
            </a:r>
            <a:r>
              <a:rPr lang="en-US" sz="2568" dirty="0" err="1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sensores</a:t>
            </a:r>
            <a:r>
              <a:rPr lang="en-US" sz="2568" dirty="0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568" dirty="0" err="1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mejora</a:t>
            </a:r>
            <a:r>
              <a:rPr lang="en-US" sz="2568" dirty="0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 la </a:t>
            </a:r>
            <a:r>
              <a:rPr lang="en-US" sz="2568" dirty="0" err="1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eficiencia</a:t>
            </a:r>
            <a:r>
              <a:rPr lang="en-US" sz="2568" dirty="0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 de </a:t>
            </a:r>
            <a:r>
              <a:rPr lang="en-US" sz="2568" dirty="0" err="1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uno</a:t>
            </a:r>
            <a:r>
              <a:rPr lang="en-US" sz="2568" dirty="0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568" dirty="0" smtClean="0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solo.</a:t>
            </a:r>
            <a:endParaRPr lang="en-US" sz="2568" dirty="0">
              <a:solidFill>
                <a:srgbClr val="365B6D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554627" lvl="1" indent="-277314" algn="l">
              <a:lnSpc>
                <a:spcPts val="3596"/>
              </a:lnSpc>
              <a:buFont typeface="Arial"/>
              <a:buChar char="•"/>
            </a:pPr>
            <a:r>
              <a:rPr lang="en-US" sz="2568" dirty="0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 Mayor </a:t>
            </a:r>
            <a:r>
              <a:rPr lang="en-US" sz="2568" dirty="0" err="1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potencia</a:t>
            </a:r>
            <a:r>
              <a:rPr lang="en-US" sz="2568" dirty="0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568" dirty="0" err="1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en</a:t>
            </a:r>
            <a:r>
              <a:rPr lang="en-US" sz="2568" dirty="0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 el sensor </a:t>
            </a:r>
            <a:r>
              <a:rPr lang="en-US" sz="2568" dirty="0" smtClean="0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da mayor </a:t>
            </a:r>
            <a:r>
              <a:rPr lang="en-US" sz="2568" dirty="0" err="1" smtClean="0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alcance</a:t>
            </a:r>
            <a:r>
              <a:rPr lang="en-US" sz="2568" dirty="0" smtClean="0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lang="en-US" sz="2568" dirty="0">
              <a:solidFill>
                <a:srgbClr val="365B6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50281" y="1914353"/>
            <a:ext cx="9291139" cy="883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408"/>
              </a:lnSpc>
              <a:spcBef>
                <a:spcPct val="0"/>
              </a:spcBef>
            </a:pPr>
            <a:r>
              <a:rPr lang="en-US" sz="7200" b="1">
                <a:solidFill>
                  <a:srgbClr val="365B6D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MARCO TEÓRICO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550281" y="3502742"/>
            <a:ext cx="5377536" cy="1373705"/>
            <a:chOff x="0" y="0"/>
            <a:chExt cx="1416306" cy="36179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16306" cy="361799"/>
            </a:xfrm>
            <a:custGeom>
              <a:avLst/>
              <a:gdLst/>
              <a:ahLst/>
              <a:cxnLst/>
              <a:rect l="l" t="t" r="r" b="b"/>
              <a:pathLst>
                <a:path w="1416306" h="361799">
                  <a:moveTo>
                    <a:pt x="0" y="0"/>
                  </a:moveTo>
                  <a:lnTo>
                    <a:pt x="1416306" y="0"/>
                  </a:lnTo>
                  <a:lnTo>
                    <a:pt x="1416306" y="361799"/>
                  </a:lnTo>
                  <a:lnTo>
                    <a:pt x="0" y="361799"/>
                  </a:lnTo>
                  <a:close/>
                </a:path>
              </a:pathLst>
            </a:custGeom>
            <a:solidFill>
              <a:srgbClr val="6C928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1416306" cy="3903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21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50281" y="5160753"/>
            <a:ext cx="5377536" cy="1373705"/>
            <a:chOff x="0" y="0"/>
            <a:chExt cx="1416306" cy="36179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16306" cy="361799"/>
            </a:xfrm>
            <a:custGeom>
              <a:avLst/>
              <a:gdLst/>
              <a:ahLst/>
              <a:cxnLst/>
              <a:rect l="l" t="t" r="r" b="b"/>
              <a:pathLst>
                <a:path w="1416306" h="361799">
                  <a:moveTo>
                    <a:pt x="0" y="0"/>
                  </a:moveTo>
                  <a:lnTo>
                    <a:pt x="1416306" y="0"/>
                  </a:lnTo>
                  <a:lnTo>
                    <a:pt x="1416306" y="361799"/>
                  </a:lnTo>
                  <a:lnTo>
                    <a:pt x="0" y="361799"/>
                  </a:lnTo>
                  <a:close/>
                </a:path>
              </a:pathLst>
            </a:custGeom>
            <a:solidFill>
              <a:srgbClr val="6C928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1416306" cy="3903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21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550281" y="6820208"/>
            <a:ext cx="5377536" cy="1373705"/>
            <a:chOff x="0" y="0"/>
            <a:chExt cx="1416306" cy="36179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16306" cy="361799"/>
            </a:xfrm>
            <a:custGeom>
              <a:avLst/>
              <a:gdLst/>
              <a:ahLst/>
              <a:cxnLst/>
              <a:rect l="l" t="t" r="r" b="b"/>
              <a:pathLst>
                <a:path w="1416306" h="361799">
                  <a:moveTo>
                    <a:pt x="0" y="0"/>
                  </a:moveTo>
                  <a:lnTo>
                    <a:pt x="1416306" y="0"/>
                  </a:lnTo>
                  <a:lnTo>
                    <a:pt x="1416306" y="361799"/>
                  </a:lnTo>
                  <a:lnTo>
                    <a:pt x="0" y="361799"/>
                  </a:lnTo>
                  <a:close/>
                </a:path>
              </a:pathLst>
            </a:custGeom>
            <a:solidFill>
              <a:srgbClr val="6C928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1416306" cy="3903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21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927817" y="3502742"/>
            <a:ext cx="9084604" cy="1373705"/>
            <a:chOff x="0" y="0"/>
            <a:chExt cx="2392653" cy="36179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392653" cy="361799"/>
            </a:xfrm>
            <a:custGeom>
              <a:avLst/>
              <a:gdLst/>
              <a:ahLst/>
              <a:cxnLst/>
              <a:rect l="l" t="t" r="r" b="b"/>
              <a:pathLst>
                <a:path w="2392653" h="361799">
                  <a:moveTo>
                    <a:pt x="0" y="0"/>
                  </a:moveTo>
                  <a:lnTo>
                    <a:pt x="2392653" y="0"/>
                  </a:lnTo>
                  <a:lnTo>
                    <a:pt x="2392653" y="361799"/>
                  </a:lnTo>
                  <a:lnTo>
                    <a:pt x="0" y="361799"/>
                  </a:lnTo>
                  <a:close/>
                </a:path>
              </a:pathLst>
            </a:custGeom>
            <a:solidFill>
              <a:srgbClr val="365B6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2392653" cy="3903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21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927817" y="5160753"/>
            <a:ext cx="9084604" cy="1373705"/>
            <a:chOff x="0" y="0"/>
            <a:chExt cx="2392653" cy="36179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392653" cy="361799"/>
            </a:xfrm>
            <a:custGeom>
              <a:avLst/>
              <a:gdLst/>
              <a:ahLst/>
              <a:cxnLst/>
              <a:rect l="l" t="t" r="r" b="b"/>
              <a:pathLst>
                <a:path w="2392653" h="361799">
                  <a:moveTo>
                    <a:pt x="0" y="0"/>
                  </a:moveTo>
                  <a:lnTo>
                    <a:pt x="2392653" y="0"/>
                  </a:lnTo>
                  <a:lnTo>
                    <a:pt x="2392653" y="361799"/>
                  </a:lnTo>
                  <a:lnTo>
                    <a:pt x="0" y="361799"/>
                  </a:lnTo>
                  <a:close/>
                </a:path>
              </a:pathLst>
            </a:custGeom>
            <a:solidFill>
              <a:srgbClr val="365B6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2392653" cy="3903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21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927817" y="6820208"/>
            <a:ext cx="9084604" cy="1373705"/>
            <a:chOff x="0" y="0"/>
            <a:chExt cx="2392653" cy="36179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392653" cy="361799"/>
            </a:xfrm>
            <a:custGeom>
              <a:avLst/>
              <a:gdLst/>
              <a:ahLst/>
              <a:cxnLst/>
              <a:rect l="l" t="t" r="r" b="b"/>
              <a:pathLst>
                <a:path w="2392653" h="361799">
                  <a:moveTo>
                    <a:pt x="0" y="0"/>
                  </a:moveTo>
                  <a:lnTo>
                    <a:pt x="2392653" y="0"/>
                  </a:lnTo>
                  <a:lnTo>
                    <a:pt x="2392653" y="361799"/>
                  </a:lnTo>
                  <a:lnTo>
                    <a:pt x="0" y="361799"/>
                  </a:lnTo>
                  <a:close/>
                </a:path>
              </a:pathLst>
            </a:custGeom>
            <a:solidFill>
              <a:srgbClr val="365B6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28575"/>
              <a:ext cx="2392653" cy="3903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21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2546776" y="3836166"/>
            <a:ext cx="13194448" cy="1050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1"/>
              </a:lnSpc>
            </a:pPr>
            <a:r>
              <a:rPr lang="en-US" sz="31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•Casos previos: KUKA YouBot, robot en México.</a:t>
            </a:r>
          </a:p>
          <a:p>
            <a:pPr algn="l">
              <a:lnSpc>
                <a:spcPts val="4191"/>
              </a:lnSpc>
            </a:pPr>
            <a:endParaRPr lang="en-US" sz="3199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2546776" y="5337850"/>
            <a:ext cx="13194448" cy="1050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2"/>
              </a:lnSpc>
            </a:pPr>
            <a:r>
              <a:rPr lang="en-US" sz="3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•Tecnologías clave: CNN, Fourier, fusión bayesiana.</a:t>
            </a:r>
          </a:p>
          <a:p>
            <a:pPr algn="l">
              <a:lnSpc>
                <a:spcPts val="4192"/>
              </a:lnSpc>
            </a:pPr>
            <a:endParaRPr lang="en-US" sz="3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2546776" y="7048808"/>
            <a:ext cx="13194448" cy="877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2"/>
              </a:lnSpc>
            </a:pPr>
            <a:r>
              <a:rPr lang="en-US" sz="3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•Aplicación en condiciones adversas.</a:t>
            </a:r>
          </a:p>
          <a:p>
            <a:pPr algn="l">
              <a:lnSpc>
                <a:spcPts val="2751"/>
              </a:lnSpc>
            </a:pPr>
            <a:endParaRPr lang="en-US" sz="3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50281" y="1914353"/>
            <a:ext cx="9291139" cy="883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408"/>
              </a:lnSpc>
              <a:spcBef>
                <a:spcPct val="0"/>
              </a:spcBef>
            </a:pPr>
            <a:r>
              <a:rPr lang="en-US" sz="7200" b="1">
                <a:solidFill>
                  <a:srgbClr val="365B6D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METODOLOGÍA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550281" y="3502742"/>
            <a:ext cx="5377536" cy="1373705"/>
            <a:chOff x="0" y="0"/>
            <a:chExt cx="1416306" cy="36179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16306" cy="361799"/>
            </a:xfrm>
            <a:custGeom>
              <a:avLst/>
              <a:gdLst/>
              <a:ahLst/>
              <a:cxnLst/>
              <a:rect l="l" t="t" r="r" b="b"/>
              <a:pathLst>
                <a:path w="1416306" h="361799">
                  <a:moveTo>
                    <a:pt x="0" y="0"/>
                  </a:moveTo>
                  <a:lnTo>
                    <a:pt x="1416306" y="0"/>
                  </a:lnTo>
                  <a:lnTo>
                    <a:pt x="1416306" y="361799"/>
                  </a:lnTo>
                  <a:lnTo>
                    <a:pt x="0" y="361799"/>
                  </a:lnTo>
                  <a:close/>
                </a:path>
              </a:pathLst>
            </a:custGeom>
            <a:solidFill>
              <a:srgbClr val="6C928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1416306" cy="3903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21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50281" y="5160753"/>
            <a:ext cx="5377536" cy="1373705"/>
            <a:chOff x="0" y="0"/>
            <a:chExt cx="1416306" cy="36179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16306" cy="361799"/>
            </a:xfrm>
            <a:custGeom>
              <a:avLst/>
              <a:gdLst/>
              <a:ahLst/>
              <a:cxnLst/>
              <a:rect l="l" t="t" r="r" b="b"/>
              <a:pathLst>
                <a:path w="1416306" h="361799">
                  <a:moveTo>
                    <a:pt x="0" y="0"/>
                  </a:moveTo>
                  <a:lnTo>
                    <a:pt x="1416306" y="0"/>
                  </a:lnTo>
                  <a:lnTo>
                    <a:pt x="1416306" y="361799"/>
                  </a:lnTo>
                  <a:lnTo>
                    <a:pt x="0" y="361799"/>
                  </a:lnTo>
                  <a:close/>
                </a:path>
              </a:pathLst>
            </a:custGeom>
            <a:solidFill>
              <a:srgbClr val="6C928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1416306" cy="3903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21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550281" y="6820208"/>
            <a:ext cx="5377536" cy="1373705"/>
            <a:chOff x="0" y="0"/>
            <a:chExt cx="1416306" cy="36179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16306" cy="361799"/>
            </a:xfrm>
            <a:custGeom>
              <a:avLst/>
              <a:gdLst/>
              <a:ahLst/>
              <a:cxnLst/>
              <a:rect l="l" t="t" r="r" b="b"/>
              <a:pathLst>
                <a:path w="1416306" h="361799">
                  <a:moveTo>
                    <a:pt x="0" y="0"/>
                  </a:moveTo>
                  <a:lnTo>
                    <a:pt x="1416306" y="0"/>
                  </a:lnTo>
                  <a:lnTo>
                    <a:pt x="1416306" y="361799"/>
                  </a:lnTo>
                  <a:lnTo>
                    <a:pt x="0" y="361799"/>
                  </a:lnTo>
                  <a:close/>
                </a:path>
              </a:pathLst>
            </a:custGeom>
            <a:solidFill>
              <a:srgbClr val="6C928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1416306" cy="3903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21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927817" y="3502742"/>
            <a:ext cx="9084604" cy="1373705"/>
            <a:chOff x="0" y="0"/>
            <a:chExt cx="2392653" cy="36179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392653" cy="361799"/>
            </a:xfrm>
            <a:custGeom>
              <a:avLst/>
              <a:gdLst/>
              <a:ahLst/>
              <a:cxnLst/>
              <a:rect l="l" t="t" r="r" b="b"/>
              <a:pathLst>
                <a:path w="2392653" h="361799">
                  <a:moveTo>
                    <a:pt x="0" y="0"/>
                  </a:moveTo>
                  <a:lnTo>
                    <a:pt x="2392653" y="0"/>
                  </a:lnTo>
                  <a:lnTo>
                    <a:pt x="2392653" y="361799"/>
                  </a:lnTo>
                  <a:lnTo>
                    <a:pt x="0" y="361799"/>
                  </a:lnTo>
                  <a:close/>
                </a:path>
              </a:pathLst>
            </a:custGeom>
            <a:solidFill>
              <a:srgbClr val="365B6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2392653" cy="3903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21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927817" y="5160753"/>
            <a:ext cx="9084604" cy="1373705"/>
            <a:chOff x="0" y="0"/>
            <a:chExt cx="2392653" cy="36179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392653" cy="361799"/>
            </a:xfrm>
            <a:custGeom>
              <a:avLst/>
              <a:gdLst/>
              <a:ahLst/>
              <a:cxnLst/>
              <a:rect l="l" t="t" r="r" b="b"/>
              <a:pathLst>
                <a:path w="2392653" h="361799">
                  <a:moveTo>
                    <a:pt x="0" y="0"/>
                  </a:moveTo>
                  <a:lnTo>
                    <a:pt x="2392653" y="0"/>
                  </a:lnTo>
                  <a:lnTo>
                    <a:pt x="2392653" y="361799"/>
                  </a:lnTo>
                  <a:lnTo>
                    <a:pt x="0" y="361799"/>
                  </a:lnTo>
                  <a:close/>
                </a:path>
              </a:pathLst>
            </a:custGeom>
            <a:solidFill>
              <a:srgbClr val="365B6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2392653" cy="3903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21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927817" y="6820208"/>
            <a:ext cx="9084604" cy="1373705"/>
            <a:chOff x="0" y="0"/>
            <a:chExt cx="2392653" cy="36179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392653" cy="361799"/>
            </a:xfrm>
            <a:custGeom>
              <a:avLst/>
              <a:gdLst/>
              <a:ahLst/>
              <a:cxnLst/>
              <a:rect l="l" t="t" r="r" b="b"/>
              <a:pathLst>
                <a:path w="2392653" h="361799">
                  <a:moveTo>
                    <a:pt x="0" y="0"/>
                  </a:moveTo>
                  <a:lnTo>
                    <a:pt x="2392653" y="0"/>
                  </a:lnTo>
                  <a:lnTo>
                    <a:pt x="2392653" y="361799"/>
                  </a:lnTo>
                  <a:lnTo>
                    <a:pt x="0" y="361799"/>
                  </a:lnTo>
                  <a:close/>
                </a:path>
              </a:pathLst>
            </a:custGeom>
            <a:solidFill>
              <a:srgbClr val="365B6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28575"/>
              <a:ext cx="2392653" cy="3903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21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2546776" y="3836166"/>
            <a:ext cx="13194448" cy="1050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1"/>
              </a:lnSpc>
            </a:pPr>
            <a:r>
              <a:rPr lang="en-US" sz="31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•Enfoque cuantitativo, diseño experimental.</a:t>
            </a:r>
          </a:p>
          <a:p>
            <a:pPr algn="l">
              <a:lnSpc>
                <a:spcPts val="4191"/>
              </a:lnSpc>
            </a:pPr>
            <a:endParaRPr lang="en-US" sz="3199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2546776" y="5337850"/>
            <a:ext cx="13194448" cy="1050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2"/>
              </a:lnSpc>
            </a:pPr>
            <a:r>
              <a:rPr lang="en-US" sz="3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•Robot con sensores acústicos y faciales.</a:t>
            </a:r>
          </a:p>
          <a:p>
            <a:pPr algn="l">
              <a:lnSpc>
                <a:spcPts val="4192"/>
              </a:lnSpc>
            </a:pPr>
            <a:endParaRPr lang="en-US" sz="3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2546776" y="7048808"/>
            <a:ext cx="13194448" cy="877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2"/>
              </a:lnSpc>
            </a:pPr>
            <a:r>
              <a:rPr lang="en-US" sz="3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•Pruebas con variables como ruido y visibilidad.</a:t>
            </a:r>
          </a:p>
          <a:p>
            <a:pPr algn="l">
              <a:lnSpc>
                <a:spcPts val="2751"/>
              </a:lnSpc>
            </a:pPr>
            <a:endParaRPr lang="en-US" sz="3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790836" y="2749276"/>
            <a:ext cx="6895498" cy="235776"/>
            <a:chOff x="0" y="0"/>
            <a:chExt cx="9193998" cy="314368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4596999" cy="314368"/>
              <a:chOff x="0" y="0"/>
              <a:chExt cx="908049" cy="62097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908049" cy="62097"/>
              </a:xfrm>
              <a:custGeom>
                <a:avLst/>
                <a:gdLst/>
                <a:ahLst/>
                <a:cxnLst/>
                <a:rect l="l" t="t" r="r" b="b"/>
                <a:pathLst>
                  <a:path w="908049" h="62097">
                    <a:moveTo>
                      <a:pt x="0" y="0"/>
                    </a:moveTo>
                    <a:lnTo>
                      <a:pt x="908049" y="0"/>
                    </a:lnTo>
                    <a:lnTo>
                      <a:pt x="908049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6C928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908049" cy="906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921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4596999" y="0"/>
              <a:ext cx="4596999" cy="314368"/>
              <a:chOff x="0" y="0"/>
              <a:chExt cx="908049" cy="62097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908049" cy="62097"/>
              </a:xfrm>
              <a:custGeom>
                <a:avLst/>
                <a:gdLst/>
                <a:ahLst/>
                <a:cxnLst/>
                <a:rect l="l" t="t" r="r" b="b"/>
                <a:pathLst>
                  <a:path w="908049" h="62097">
                    <a:moveTo>
                      <a:pt x="0" y="0"/>
                    </a:moveTo>
                    <a:lnTo>
                      <a:pt x="908049" y="0"/>
                    </a:lnTo>
                    <a:lnTo>
                      <a:pt x="908049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365B6D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28575"/>
                <a:ext cx="908049" cy="906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921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9" name="Freeform 9"/>
          <p:cNvSpPr/>
          <p:nvPr/>
        </p:nvSpPr>
        <p:spPr>
          <a:xfrm>
            <a:off x="231969" y="2261283"/>
            <a:ext cx="8912031" cy="6202139"/>
          </a:xfrm>
          <a:custGeom>
            <a:avLst/>
            <a:gdLst/>
            <a:ahLst/>
            <a:cxnLst/>
            <a:rect l="l" t="t" r="r" b="b"/>
            <a:pathLst>
              <a:path w="8912031" h="6202139">
                <a:moveTo>
                  <a:pt x="0" y="0"/>
                </a:moveTo>
                <a:lnTo>
                  <a:pt x="8912031" y="0"/>
                </a:lnTo>
                <a:lnTo>
                  <a:pt x="8912031" y="6202139"/>
                </a:lnTo>
                <a:lnTo>
                  <a:pt x="0" y="62021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0" name="TextBox 10"/>
          <p:cNvSpPr txBox="1"/>
          <p:nvPr/>
        </p:nvSpPr>
        <p:spPr>
          <a:xfrm>
            <a:off x="9797699" y="2150709"/>
            <a:ext cx="7858992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8" lvl="1" indent="-323849" algn="just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 b="1">
                <a:solidFill>
                  <a:srgbClr val="365B6D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Modulo Bluetooth HC06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867776" y="549402"/>
            <a:ext cx="10552449" cy="1025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92"/>
              </a:lnSpc>
            </a:pPr>
            <a:r>
              <a:rPr lang="en-US" sz="7200" b="1" dirty="0">
                <a:solidFill>
                  <a:srgbClr val="365B6D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DISEÑO DEL PROTOTIPO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790836" y="3832111"/>
            <a:ext cx="6895498" cy="235776"/>
            <a:chOff x="0" y="0"/>
            <a:chExt cx="9193998" cy="314368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4596999" cy="314368"/>
              <a:chOff x="0" y="0"/>
              <a:chExt cx="908049" cy="62097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908049" cy="62097"/>
              </a:xfrm>
              <a:custGeom>
                <a:avLst/>
                <a:gdLst/>
                <a:ahLst/>
                <a:cxnLst/>
                <a:rect l="l" t="t" r="r" b="b"/>
                <a:pathLst>
                  <a:path w="908049" h="62097">
                    <a:moveTo>
                      <a:pt x="0" y="0"/>
                    </a:moveTo>
                    <a:lnTo>
                      <a:pt x="908049" y="0"/>
                    </a:lnTo>
                    <a:lnTo>
                      <a:pt x="908049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6C928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28575"/>
                <a:ext cx="908049" cy="906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921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4596999" y="0"/>
              <a:ext cx="4596999" cy="314368"/>
              <a:chOff x="0" y="0"/>
              <a:chExt cx="908049" cy="62097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908049" cy="62097"/>
              </a:xfrm>
              <a:custGeom>
                <a:avLst/>
                <a:gdLst/>
                <a:ahLst/>
                <a:cxnLst/>
                <a:rect l="l" t="t" r="r" b="b"/>
                <a:pathLst>
                  <a:path w="908049" h="62097">
                    <a:moveTo>
                      <a:pt x="0" y="0"/>
                    </a:moveTo>
                    <a:lnTo>
                      <a:pt x="908049" y="0"/>
                    </a:lnTo>
                    <a:lnTo>
                      <a:pt x="908049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365B6D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28575"/>
                <a:ext cx="908049" cy="906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921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9" name="TextBox 19"/>
          <p:cNvSpPr txBox="1"/>
          <p:nvPr/>
        </p:nvSpPr>
        <p:spPr>
          <a:xfrm>
            <a:off x="9797699" y="3233543"/>
            <a:ext cx="5589359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8" lvl="1" indent="-323849" algn="just">
              <a:lnSpc>
                <a:spcPts val="4199"/>
              </a:lnSpc>
              <a:buFont typeface="Arial"/>
              <a:buChar char="•"/>
            </a:pPr>
            <a:r>
              <a:rPr lang="en-US" sz="2999" b="1">
                <a:solidFill>
                  <a:srgbClr val="365B6D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Arduino nano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9790836" y="4914105"/>
            <a:ext cx="6895498" cy="235776"/>
            <a:chOff x="0" y="0"/>
            <a:chExt cx="9193998" cy="314368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4596999" cy="314368"/>
              <a:chOff x="0" y="0"/>
              <a:chExt cx="908049" cy="62097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908049" cy="62097"/>
              </a:xfrm>
              <a:custGeom>
                <a:avLst/>
                <a:gdLst/>
                <a:ahLst/>
                <a:cxnLst/>
                <a:rect l="l" t="t" r="r" b="b"/>
                <a:pathLst>
                  <a:path w="908049" h="62097">
                    <a:moveTo>
                      <a:pt x="0" y="0"/>
                    </a:moveTo>
                    <a:lnTo>
                      <a:pt x="908049" y="0"/>
                    </a:lnTo>
                    <a:lnTo>
                      <a:pt x="908049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6C928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-28575"/>
                <a:ext cx="908049" cy="906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921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4596999" y="0"/>
              <a:ext cx="4596999" cy="314368"/>
              <a:chOff x="0" y="0"/>
              <a:chExt cx="908049" cy="62097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908049" cy="62097"/>
              </a:xfrm>
              <a:custGeom>
                <a:avLst/>
                <a:gdLst/>
                <a:ahLst/>
                <a:cxnLst/>
                <a:rect l="l" t="t" r="r" b="b"/>
                <a:pathLst>
                  <a:path w="908049" h="62097">
                    <a:moveTo>
                      <a:pt x="0" y="0"/>
                    </a:moveTo>
                    <a:lnTo>
                      <a:pt x="908049" y="0"/>
                    </a:lnTo>
                    <a:lnTo>
                      <a:pt x="908049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365B6D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0" y="-28575"/>
                <a:ext cx="908049" cy="906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921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27" name="TextBox 27"/>
          <p:cNvSpPr txBox="1"/>
          <p:nvPr/>
        </p:nvSpPr>
        <p:spPr>
          <a:xfrm>
            <a:off x="9797699" y="4315537"/>
            <a:ext cx="5589359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8" lvl="1" indent="-323849" algn="just">
              <a:lnSpc>
                <a:spcPts val="4199"/>
              </a:lnSpc>
              <a:buFont typeface="Arial"/>
              <a:buChar char="•"/>
            </a:pPr>
            <a:r>
              <a:rPr lang="en-US" sz="2999" b="1">
                <a:solidFill>
                  <a:srgbClr val="365B6D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Control de motores L293D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9790836" y="5996099"/>
            <a:ext cx="6895498" cy="235776"/>
            <a:chOff x="0" y="0"/>
            <a:chExt cx="9193998" cy="314368"/>
          </a:xfrm>
        </p:grpSpPr>
        <p:grpSp>
          <p:nvGrpSpPr>
            <p:cNvPr id="29" name="Group 29"/>
            <p:cNvGrpSpPr/>
            <p:nvPr/>
          </p:nvGrpSpPr>
          <p:grpSpPr>
            <a:xfrm>
              <a:off x="0" y="0"/>
              <a:ext cx="4596999" cy="314368"/>
              <a:chOff x="0" y="0"/>
              <a:chExt cx="908049" cy="62097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908049" cy="62097"/>
              </a:xfrm>
              <a:custGeom>
                <a:avLst/>
                <a:gdLst/>
                <a:ahLst/>
                <a:cxnLst/>
                <a:rect l="l" t="t" r="r" b="b"/>
                <a:pathLst>
                  <a:path w="908049" h="62097">
                    <a:moveTo>
                      <a:pt x="0" y="0"/>
                    </a:moveTo>
                    <a:lnTo>
                      <a:pt x="908049" y="0"/>
                    </a:lnTo>
                    <a:lnTo>
                      <a:pt x="908049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6C928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0" y="-28575"/>
                <a:ext cx="908049" cy="906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921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4596999" y="0"/>
              <a:ext cx="4596999" cy="314368"/>
              <a:chOff x="0" y="0"/>
              <a:chExt cx="908049" cy="62097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908049" cy="62097"/>
              </a:xfrm>
              <a:custGeom>
                <a:avLst/>
                <a:gdLst/>
                <a:ahLst/>
                <a:cxnLst/>
                <a:rect l="l" t="t" r="r" b="b"/>
                <a:pathLst>
                  <a:path w="908049" h="62097">
                    <a:moveTo>
                      <a:pt x="0" y="0"/>
                    </a:moveTo>
                    <a:lnTo>
                      <a:pt x="908049" y="0"/>
                    </a:lnTo>
                    <a:lnTo>
                      <a:pt x="908049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365B6D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0" y="-28575"/>
                <a:ext cx="908049" cy="906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921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35" name="TextBox 35"/>
          <p:cNvSpPr txBox="1"/>
          <p:nvPr/>
        </p:nvSpPr>
        <p:spPr>
          <a:xfrm>
            <a:off x="9797699" y="5397531"/>
            <a:ext cx="5589359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8" lvl="1" indent="-323849" algn="just">
              <a:lnSpc>
                <a:spcPts val="4199"/>
              </a:lnSpc>
              <a:buFont typeface="Arial"/>
              <a:buChar char="•"/>
            </a:pPr>
            <a:r>
              <a:rPr lang="en-US" sz="2999" b="1">
                <a:solidFill>
                  <a:srgbClr val="365B6D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Regulador de voltaje LM7805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9797699" y="7078092"/>
            <a:ext cx="6895498" cy="235776"/>
            <a:chOff x="0" y="0"/>
            <a:chExt cx="9193998" cy="314368"/>
          </a:xfrm>
        </p:grpSpPr>
        <p:grpSp>
          <p:nvGrpSpPr>
            <p:cNvPr id="37" name="Group 37"/>
            <p:cNvGrpSpPr/>
            <p:nvPr/>
          </p:nvGrpSpPr>
          <p:grpSpPr>
            <a:xfrm>
              <a:off x="0" y="0"/>
              <a:ext cx="4596999" cy="314368"/>
              <a:chOff x="0" y="0"/>
              <a:chExt cx="908049" cy="62097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908049" cy="62097"/>
              </a:xfrm>
              <a:custGeom>
                <a:avLst/>
                <a:gdLst/>
                <a:ahLst/>
                <a:cxnLst/>
                <a:rect l="l" t="t" r="r" b="b"/>
                <a:pathLst>
                  <a:path w="908049" h="62097">
                    <a:moveTo>
                      <a:pt x="0" y="0"/>
                    </a:moveTo>
                    <a:lnTo>
                      <a:pt x="908049" y="0"/>
                    </a:lnTo>
                    <a:lnTo>
                      <a:pt x="908049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6C928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0" y="-28575"/>
                <a:ext cx="908049" cy="906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921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4596999" y="0"/>
              <a:ext cx="4596999" cy="314368"/>
              <a:chOff x="0" y="0"/>
              <a:chExt cx="908049" cy="62097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908049" cy="62097"/>
              </a:xfrm>
              <a:custGeom>
                <a:avLst/>
                <a:gdLst/>
                <a:ahLst/>
                <a:cxnLst/>
                <a:rect l="l" t="t" r="r" b="b"/>
                <a:pathLst>
                  <a:path w="908049" h="62097">
                    <a:moveTo>
                      <a:pt x="0" y="0"/>
                    </a:moveTo>
                    <a:lnTo>
                      <a:pt x="908049" y="0"/>
                    </a:lnTo>
                    <a:lnTo>
                      <a:pt x="908049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365B6D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0" y="-28575"/>
                <a:ext cx="908049" cy="906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921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43" name="TextBox 43"/>
          <p:cNvSpPr txBox="1"/>
          <p:nvPr/>
        </p:nvSpPr>
        <p:spPr>
          <a:xfrm>
            <a:off x="9804562" y="6479524"/>
            <a:ext cx="5589359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8" lvl="1" indent="-323849" algn="just">
              <a:lnSpc>
                <a:spcPts val="4199"/>
              </a:lnSpc>
              <a:buFont typeface="Arial"/>
              <a:buChar char="•"/>
            </a:pPr>
            <a:r>
              <a:rPr lang="en-US" sz="2999" b="1">
                <a:solidFill>
                  <a:srgbClr val="365B6D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Medidor de bateria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9790836" y="8160086"/>
            <a:ext cx="6895498" cy="235776"/>
            <a:chOff x="0" y="0"/>
            <a:chExt cx="9193998" cy="314368"/>
          </a:xfrm>
        </p:grpSpPr>
        <p:grpSp>
          <p:nvGrpSpPr>
            <p:cNvPr id="45" name="Group 45"/>
            <p:cNvGrpSpPr/>
            <p:nvPr/>
          </p:nvGrpSpPr>
          <p:grpSpPr>
            <a:xfrm>
              <a:off x="0" y="0"/>
              <a:ext cx="4596999" cy="314368"/>
              <a:chOff x="0" y="0"/>
              <a:chExt cx="908049" cy="62097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908049" cy="62097"/>
              </a:xfrm>
              <a:custGeom>
                <a:avLst/>
                <a:gdLst/>
                <a:ahLst/>
                <a:cxnLst/>
                <a:rect l="l" t="t" r="r" b="b"/>
                <a:pathLst>
                  <a:path w="908049" h="62097">
                    <a:moveTo>
                      <a:pt x="0" y="0"/>
                    </a:moveTo>
                    <a:lnTo>
                      <a:pt x="908049" y="0"/>
                    </a:lnTo>
                    <a:lnTo>
                      <a:pt x="908049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6C928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0" y="-28575"/>
                <a:ext cx="908049" cy="906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921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4596999" y="0"/>
              <a:ext cx="4596999" cy="314368"/>
              <a:chOff x="0" y="0"/>
              <a:chExt cx="908049" cy="62097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908049" cy="62097"/>
              </a:xfrm>
              <a:custGeom>
                <a:avLst/>
                <a:gdLst/>
                <a:ahLst/>
                <a:cxnLst/>
                <a:rect l="l" t="t" r="r" b="b"/>
                <a:pathLst>
                  <a:path w="908049" h="62097">
                    <a:moveTo>
                      <a:pt x="0" y="0"/>
                    </a:moveTo>
                    <a:lnTo>
                      <a:pt x="908049" y="0"/>
                    </a:lnTo>
                    <a:lnTo>
                      <a:pt x="908049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365B6D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0" y="-28575"/>
                <a:ext cx="908049" cy="906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921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51" name="TextBox 51"/>
          <p:cNvSpPr txBox="1"/>
          <p:nvPr/>
        </p:nvSpPr>
        <p:spPr>
          <a:xfrm>
            <a:off x="9797699" y="7561518"/>
            <a:ext cx="5589359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8" lvl="1" indent="-323849" algn="just">
              <a:lnSpc>
                <a:spcPts val="4199"/>
              </a:lnSpc>
              <a:buFont typeface="Arial"/>
              <a:buChar char="•"/>
            </a:pPr>
            <a:r>
              <a:rPr lang="en-US" sz="2999" b="1">
                <a:solidFill>
                  <a:srgbClr val="365B6D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Fuente de energía de 7.4 V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9790836" y="8643512"/>
            <a:ext cx="5589359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8" lvl="1" indent="-323849" algn="just">
              <a:lnSpc>
                <a:spcPts val="4199"/>
              </a:lnSpc>
              <a:buFont typeface="Arial"/>
              <a:buChar char="•"/>
            </a:pPr>
            <a:r>
              <a:rPr lang="en-US" sz="2999" b="1">
                <a:solidFill>
                  <a:srgbClr val="365B6D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Entre otras cosas.</a:t>
            </a:r>
          </a:p>
        </p:txBody>
      </p:sp>
      <p:grpSp>
        <p:nvGrpSpPr>
          <p:cNvPr id="53" name="Group 53"/>
          <p:cNvGrpSpPr/>
          <p:nvPr/>
        </p:nvGrpSpPr>
        <p:grpSpPr>
          <a:xfrm>
            <a:off x="9790836" y="9148337"/>
            <a:ext cx="6895498" cy="235776"/>
            <a:chOff x="0" y="0"/>
            <a:chExt cx="9193998" cy="314368"/>
          </a:xfrm>
        </p:grpSpPr>
        <p:grpSp>
          <p:nvGrpSpPr>
            <p:cNvPr id="54" name="Group 54"/>
            <p:cNvGrpSpPr/>
            <p:nvPr/>
          </p:nvGrpSpPr>
          <p:grpSpPr>
            <a:xfrm>
              <a:off x="0" y="0"/>
              <a:ext cx="4596999" cy="314368"/>
              <a:chOff x="0" y="0"/>
              <a:chExt cx="908049" cy="62097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0" y="0"/>
                <a:ext cx="908049" cy="62097"/>
              </a:xfrm>
              <a:custGeom>
                <a:avLst/>
                <a:gdLst/>
                <a:ahLst/>
                <a:cxnLst/>
                <a:rect l="l" t="t" r="r" b="b"/>
                <a:pathLst>
                  <a:path w="908049" h="62097">
                    <a:moveTo>
                      <a:pt x="0" y="0"/>
                    </a:moveTo>
                    <a:lnTo>
                      <a:pt x="908049" y="0"/>
                    </a:lnTo>
                    <a:lnTo>
                      <a:pt x="908049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6C928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0" y="-28575"/>
                <a:ext cx="908049" cy="906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921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4596999" y="0"/>
              <a:ext cx="4596999" cy="314368"/>
              <a:chOff x="0" y="0"/>
              <a:chExt cx="908049" cy="62097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0" y="0"/>
                <a:ext cx="908049" cy="62097"/>
              </a:xfrm>
              <a:custGeom>
                <a:avLst/>
                <a:gdLst/>
                <a:ahLst/>
                <a:cxnLst/>
                <a:rect l="l" t="t" r="r" b="b"/>
                <a:pathLst>
                  <a:path w="908049" h="62097">
                    <a:moveTo>
                      <a:pt x="0" y="0"/>
                    </a:moveTo>
                    <a:lnTo>
                      <a:pt x="908049" y="0"/>
                    </a:lnTo>
                    <a:lnTo>
                      <a:pt x="908049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365B6D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0" y="-28575"/>
                <a:ext cx="908049" cy="906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921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892635" y="1028700"/>
            <a:ext cx="3395365" cy="315812"/>
            <a:chOff x="0" y="0"/>
            <a:chExt cx="987219" cy="6209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87219" cy="62097"/>
            </a:xfrm>
            <a:custGeom>
              <a:avLst/>
              <a:gdLst/>
              <a:ahLst/>
              <a:cxnLst/>
              <a:rect l="l" t="t" r="r" b="b"/>
              <a:pathLst>
                <a:path w="987219" h="62097">
                  <a:moveTo>
                    <a:pt x="0" y="0"/>
                  </a:moveTo>
                  <a:lnTo>
                    <a:pt x="987219" y="0"/>
                  </a:lnTo>
                  <a:lnTo>
                    <a:pt x="987219" y="62097"/>
                  </a:lnTo>
                  <a:lnTo>
                    <a:pt x="0" y="62097"/>
                  </a:lnTo>
                  <a:close/>
                </a:path>
              </a:pathLst>
            </a:custGeom>
            <a:solidFill>
              <a:srgbClr val="6C928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987219" cy="906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21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589414" y="8598216"/>
            <a:ext cx="3748348" cy="235776"/>
            <a:chOff x="0" y="0"/>
            <a:chExt cx="987219" cy="6209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87219" cy="62097"/>
            </a:xfrm>
            <a:custGeom>
              <a:avLst/>
              <a:gdLst/>
              <a:ahLst/>
              <a:cxnLst/>
              <a:rect l="l" t="t" r="r" b="b"/>
              <a:pathLst>
                <a:path w="987219" h="62097">
                  <a:moveTo>
                    <a:pt x="0" y="0"/>
                  </a:moveTo>
                  <a:lnTo>
                    <a:pt x="987219" y="0"/>
                  </a:lnTo>
                  <a:lnTo>
                    <a:pt x="987219" y="62097"/>
                  </a:lnTo>
                  <a:lnTo>
                    <a:pt x="0" y="62097"/>
                  </a:lnTo>
                  <a:close/>
                </a:path>
              </a:pathLst>
            </a:custGeom>
            <a:solidFill>
              <a:srgbClr val="6C928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987219" cy="906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21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972277" y="1453008"/>
            <a:ext cx="3748348" cy="235776"/>
            <a:chOff x="0" y="0"/>
            <a:chExt cx="987219" cy="6209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87219" cy="62097"/>
            </a:xfrm>
            <a:custGeom>
              <a:avLst/>
              <a:gdLst/>
              <a:ahLst/>
              <a:cxnLst/>
              <a:rect l="l" t="t" r="r" b="b"/>
              <a:pathLst>
                <a:path w="987219" h="62097">
                  <a:moveTo>
                    <a:pt x="0" y="0"/>
                  </a:moveTo>
                  <a:lnTo>
                    <a:pt x="987219" y="0"/>
                  </a:lnTo>
                  <a:lnTo>
                    <a:pt x="987219" y="62097"/>
                  </a:lnTo>
                  <a:lnTo>
                    <a:pt x="0" y="62097"/>
                  </a:lnTo>
                  <a:close/>
                </a:path>
              </a:pathLst>
            </a:custGeom>
            <a:solidFill>
              <a:srgbClr val="365B6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987219" cy="906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21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669056" y="9022524"/>
            <a:ext cx="3748348" cy="235776"/>
            <a:chOff x="0" y="0"/>
            <a:chExt cx="987219" cy="6209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87219" cy="62097"/>
            </a:xfrm>
            <a:custGeom>
              <a:avLst/>
              <a:gdLst/>
              <a:ahLst/>
              <a:cxnLst/>
              <a:rect l="l" t="t" r="r" b="b"/>
              <a:pathLst>
                <a:path w="987219" h="62097">
                  <a:moveTo>
                    <a:pt x="0" y="0"/>
                  </a:moveTo>
                  <a:lnTo>
                    <a:pt x="987219" y="0"/>
                  </a:lnTo>
                  <a:lnTo>
                    <a:pt x="987219" y="62097"/>
                  </a:lnTo>
                  <a:lnTo>
                    <a:pt x="0" y="62097"/>
                  </a:lnTo>
                  <a:close/>
                </a:path>
              </a:pathLst>
            </a:custGeom>
            <a:solidFill>
              <a:srgbClr val="365B6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987219" cy="906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21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6687132" y="2325249"/>
            <a:ext cx="11301259" cy="5636503"/>
          </a:xfrm>
          <a:custGeom>
            <a:avLst/>
            <a:gdLst/>
            <a:ahLst/>
            <a:cxnLst/>
            <a:rect l="l" t="t" r="r" b="b"/>
            <a:pathLst>
              <a:path w="11301259" h="5636503">
                <a:moveTo>
                  <a:pt x="0" y="0"/>
                </a:moveTo>
                <a:lnTo>
                  <a:pt x="11301259" y="0"/>
                </a:lnTo>
                <a:lnTo>
                  <a:pt x="11301259" y="5636502"/>
                </a:lnTo>
                <a:lnTo>
                  <a:pt x="0" y="56365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15" name="TextBox 15"/>
          <p:cNvSpPr txBox="1"/>
          <p:nvPr/>
        </p:nvSpPr>
        <p:spPr>
          <a:xfrm>
            <a:off x="762000" y="761881"/>
            <a:ext cx="6062640" cy="1046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92"/>
              </a:lnSpc>
            </a:pPr>
            <a:r>
              <a:rPr lang="en-US" sz="7200" b="1" spc="-187" dirty="0">
                <a:solidFill>
                  <a:srgbClr val="365B6D"/>
                </a:solidFill>
                <a:latin typeface="Monterchi Serif"/>
                <a:ea typeface="Monterchi Serif"/>
                <a:cs typeface="Monterchi Serif"/>
                <a:sym typeface="Monterchi Serif"/>
              </a:rPr>
              <a:t>RESULTADOS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10209" y="1921565"/>
            <a:ext cx="5830584" cy="7721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83"/>
              </a:lnSpc>
            </a:pPr>
            <a:r>
              <a:rPr lang="en-US" sz="3131" dirty="0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•Buena </a:t>
            </a:r>
            <a:r>
              <a:rPr lang="en-US" sz="3131" dirty="0" err="1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precisión</a:t>
            </a:r>
            <a:r>
              <a:rPr lang="en-US" sz="3131" dirty="0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3131" dirty="0" err="1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en</a:t>
            </a:r>
            <a:r>
              <a:rPr lang="en-US" sz="3131" dirty="0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3131" dirty="0" err="1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detección</a:t>
            </a:r>
            <a:r>
              <a:rPr lang="en-US" sz="3131" dirty="0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 de personas.</a:t>
            </a:r>
          </a:p>
          <a:p>
            <a:pPr algn="l">
              <a:lnSpc>
                <a:spcPts val="4383"/>
              </a:lnSpc>
            </a:pPr>
            <a:r>
              <a:rPr lang="en-US" sz="3131" dirty="0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r>
              <a:rPr lang="en-US" sz="3131" dirty="0" err="1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Curvas</a:t>
            </a:r>
            <a:r>
              <a:rPr lang="en-US" sz="3131" dirty="0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 de </a:t>
            </a:r>
            <a:r>
              <a:rPr lang="en-US" sz="3131" dirty="0" err="1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confianza</a:t>
            </a:r>
            <a:r>
              <a:rPr lang="en-US" sz="3131" dirty="0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 y </a:t>
            </a:r>
            <a:r>
              <a:rPr lang="en-US" sz="3131" dirty="0" err="1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matriz</a:t>
            </a:r>
            <a:r>
              <a:rPr lang="en-US" sz="3131" dirty="0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 de </a:t>
            </a:r>
            <a:r>
              <a:rPr lang="en-US" sz="3131" dirty="0" err="1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confusión</a:t>
            </a:r>
            <a:r>
              <a:rPr lang="en-US" sz="3131" dirty="0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</a:p>
          <a:p>
            <a:pPr algn="l">
              <a:lnSpc>
                <a:spcPts val="4383"/>
              </a:lnSpc>
            </a:pPr>
            <a:r>
              <a:rPr lang="en-US" sz="3131" dirty="0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r>
              <a:rPr lang="en-US" sz="3131" dirty="0" err="1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Respuesta</a:t>
            </a:r>
            <a:r>
              <a:rPr lang="en-US" sz="3131" dirty="0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3131" dirty="0" err="1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rápida</a:t>
            </a:r>
            <a:r>
              <a:rPr lang="en-US" sz="3131" dirty="0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3131" dirty="0" err="1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incluso</a:t>
            </a:r>
            <a:r>
              <a:rPr lang="en-US" sz="3131" dirty="0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 con </a:t>
            </a:r>
            <a:r>
              <a:rPr lang="en-US" sz="3131" dirty="0" err="1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obstáculos</a:t>
            </a:r>
            <a:r>
              <a:rPr lang="en-US" sz="3131" dirty="0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</a:p>
          <a:p>
            <a:pPr algn="l">
              <a:lnSpc>
                <a:spcPts val="4383"/>
              </a:lnSpc>
            </a:pPr>
            <a:endParaRPr lang="en-US" sz="3131" dirty="0">
              <a:solidFill>
                <a:srgbClr val="365B6D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l">
              <a:lnSpc>
                <a:spcPts val="4383"/>
              </a:lnSpc>
            </a:pPr>
            <a:r>
              <a:rPr lang="en-US" sz="3131" dirty="0" err="1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Desempeño</a:t>
            </a:r>
            <a:r>
              <a:rPr lang="en-US" sz="3131" dirty="0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 del </a:t>
            </a:r>
            <a:r>
              <a:rPr lang="en-US" sz="3131" dirty="0" err="1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modelo</a:t>
            </a:r>
            <a:r>
              <a:rPr lang="en-US" sz="3131" dirty="0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 YOLOv11:</a:t>
            </a:r>
          </a:p>
          <a:p>
            <a:pPr algn="l">
              <a:lnSpc>
                <a:spcPts val="4383"/>
              </a:lnSpc>
            </a:pPr>
            <a:endParaRPr lang="en-US" sz="3131" dirty="0">
              <a:solidFill>
                <a:srgbClr val="365B6D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676066" lvl="1" indent="-338033" algn="l">
              <a:lnSpc>
                <a:spcPts val="4383"/>
              </a:lnSpc>
              <a:buFont typeface="Arial"/>
              <a:buChar char="•"/>
            </a:pPr>
            <a:r>
              <a:rPr lang="en-US" sz="3131" dirty="0" err="1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Precisión</a:t>
            </a:r>
            <a:r>
              <a:rPr lang="en-US" sz="3131" dirty="0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: 0.88</a:t>
            </a:r>
          </a:p>
          <a:p>
            <a:pPr marL="676066" lvl="1" indent="-338033" algn="l">
              <a:lnSpc>
                <a:spcPts val="4383"/>
              </a:lnSpc>
              <a:buFont typeface="Arial"/>
              <a:buChar char="•"/>
            </a:pPr>
            <a:r>
              <a:rPr lang="en-US" sz="3131" dirty="0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Recall: 0.78</a:t>
            </a:r>
          </a:p>
          <a:p>
            <a:pPr marL="676066" lvl="1" indent="-338033" algn="l">
              <a:lnSpc>
                <a:spcPts val="4383"/>
              </a:lnSpc>
              <a:buFont typeface="Arial"/>
              <a:buChar char="•"/>
            </a:pPr>
            <a:r>
              <a:rPr lang="en-US" sz="3131" dirty="0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mAP@0.5: 0.93</a:t>
            </a:r>
          </a:p>
          <a:p>
            <a:pPr marL="676066" lvl="1" indent="-338033" algn="l">
              <a:lnSpc>
                <a:spcPts val="4383"/>
              </a:lnSpc>
              <a:buFont typeface="Arial"/>
              <a:buChar char="•"/>
            </a:pPr>
            <a:r>
              <a:rPr lang="en-US" sz="3131" dirty="0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mAP@0.5:0.95: 0.58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E6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358980"/>
            <a:ext cx="7850483" cy="7899320"/>
          </a:xfrm>
          <a:custGeom>
            <a:avLst/>
            <a:gdLst/>
            <a:ahLst/>
            <a:cxnLst/>
            <a:rect l="l" t="t" r="r" b="b"/>
            <a:pathLst>
              <a:path w="7850483" h="7899320">
                <a:moveTo>
                  <a:pt x="0" y="0"/>
                </a:moveTo>
                <a:lnTo>
                  <a:pt x="7850483" y="0"/>
                </a:lnTo>
                <a:lnTo>
                  <a:pt x="7850483" y="7899320"/>
                </a:lnTo>
                <a:lnTo>
                  <a:pt x="0" y="78993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3" name="Freeform 3"/>
          <p:cNvSpPr/>
          <p:nvPr/>
        </p:nvSpPr>
        <p:spPr>
          <a:xfrm>
            <a:off x="9797501" y="1381188"/>
            <a:ext cx="7843128" cy="7854905"/>
          </a:xfrm>
          <a:custGeom>
            <a:avLst/>
            <a:gdLst/>
            <a:ahLst/>
            <a:cxnLst/>
            <a:rect l="l" t="t" r="r" b="b"/>
            <a:pathLst>
              <a:path w="7843128" h="7854905">
                <a:moveTo>
                  <a:pt x="0" y="0"/>
                </a:moveTo>
                <a:lnTo>
                  <a:pt x="7843129" y="0"/>
                </a:lnTo>
                <a:lnTo>
                  <a:pt x="7843129" y="7854905"/>
                </a:lnTo>
                <a:lnTo>
                  <a:pt x="0" y="78549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  <p:sp>
        <p:nvSpPr>
          <p:cNvPr id="4" name="TextBox 4"/>
          <p:cNvSpPr txBox="1"/>
          <p:nvPr/>
        </p:nvSpPr>
        <p:spPr>
          <a:xfrm>
            <a:off x="518517" y="658622"/>
            <a:ext cx="9278984" cy="370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21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Imagenes que muestran lo que la IA considera una persona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358740" y="2305344"/>
            <a:ext cx="9570521" cy="3896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6" lvl="1" indent="-237488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El robot logró detectar personas con IA y visión artificial con alta precisión.</a:t>
            </a:r>
          </a:p>
          <a:p>
            <a:pPr marL="474976" lvl="1" indent="-237488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No se logró integrar el sensor acústico, lo cual limitó la detección multisensorial.</a:t>
            </a:r>
          </a:p>
          <a:p>
            <a:pPr marL="474976" lvl="1" indent="-237488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El sistema de control remoto con Arduino y Bluetooth funcionó correctamente.</a:t>
            </a:r>
          </a:p>
          <a:p>
            <a:pPr marL="474976" lvl="1" indent="-237488" algn="l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365B6D"/>
                </a:solidFill>
                <a:latin typeface="Roboto"/>
                <a:ea typeface="Roboto"/>
                <a:cs typeface="Roboto"/>
                <a:sym typeface="Roboto"/>
              </a:rPr>
              <a:t>El prototipo demostró ser una base funcional para futuras mejoras y aplicaciones reales.</a:t>
            </a:r>
          </a:p>
          <a:p>
            <a:pPr algn="l">
              <a:lnSpc>
                <a:spcPts val="3079"/>
              </a:lnSpc>
            </a:pPr>
            <a:endParaRPr lang="en-US" sz="2199">
              <a:solidFill>
                <a:srgbClr val="365B6D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l">
              <a:lnSpc>
                <a:spcPts val="3079"/>
              </a:lnSpc>
            </a:pPr>
            <a:endParaRPr lang="en-US" sz="2199">
              <a:solidFill>
                <a:srgbClr val="365B6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4358740" y="1256640"/>
            <a:ext cx="9570521" cy="920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03"/>
              </a:lnSpc>
            </a:pPr>
            <a:r>
              <a:rPr lang="en-US" sz="6399" b="1" spc="-166" dirty="0">
                <a:solidFill>
                  <a:srgbClr val="365B6D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CONCLUSIONES</a:t>
            </a:r>
          </a:p>
        </p:txBody>
      </p:sp>
      <p:grpSp>
        <p:nvGrpSpPr>
          <p:cNvPr id="4" name="Group 4"/>
          <p:cNvGrpSpPr/>
          <p:nvPr/>
        </p:nvGrpSpPr>
        <p:grpSpPr>
          <a:xfrm rot="-5400000">
            <a:off x="1126558" y="5307992"/>
            <a:ext cx="3598580" cy="4114800"/>
            <a:chOff x="0" y="0"/>
            <a:chExt cx="4798106" cy="5486400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359656"/>
              <a:ext cx="4798106" cy="314368"/>
              <a:chOff x="0" y="0"/>
              <a:chExt cx="947774" cy="62097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947774" cy="62097"/>
              </a:xfrm>
              <a:custGeom>
                <a:avLst/>
                <a:gdLst/>
                <a:ahLst/>
                <a:cxnLst/>
                <a:rect l="l" t="t" r="r" b="b"/>
                <a:pathLst>
                  <a:path w="947774" h="62097">
                    <a:moveTo>
                      <a:pt x="0" y="0"/>
                    </a:moveTo>
                    <a:lnTo>
                      <a:pt x="947774" y="0"/>
                    </a:lnTo>
                    <a:lnTo>
                      <a:pt x="947774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6C928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28575"/>
                <a:ext cx="947774" cy="906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921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0" y="925401"/>
              <a:ext cx="3675307" cy="314368"/>
              <a:chOff x="0" y="0"/>
              <a:chExt cx="725987" cy="62097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725987" cy="62097"/>
              </a:xfrm>
              <a:custGeom>
                <a:avLst/>
                <a:gdLst/>
                <a:ahLst/>
                <a:cxnLst/>
                <a:rect l="l" t="t" r="r" b="b"/>
                <a:pathLst>
                  <a:path w="725987" h="62097">
                    <a:moveTo>
                      <a:pt x="0" y="0"/>
                    </a:moveTo>
                    <a:lnTo>
                      <a:pt x="725987" y="0"/>
                    </a:lnTo>
                    <a:lnTo>
                      <a:pt x="725987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6C928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28575"/>
                <a:ext cx="725987" cy="906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921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 rot="-5400000">
              <a:off x="-650594" y="1538808"/>
              <a:ext cx="3391984" cy="314368"/>
              <a:chOff x="0" y="0"/>
              <a:chExt cx="670022" cy="62097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670022" cy="62097"/>
              </a:xfrm>
              <a:custGeom>
                <a:avLst/>
                <a:gdLst/>
                <a:ahLst/>
                <a:cxnLst/>
                <a:rect l="l" t="t" r="r" b="b"/>
                <a:pathLst>
                  <a:path w="670022" h="62097">
                    <a:moveTo>
                      <a:pt x="0" y="0"/>
                    </a:moveTo>
                    <a:lnTo>
                      <a:pt x="670022" y="0"/>
                    </a:lnTo>
                    <a:lnTo>
                      <a:pt x="670022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6C928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-28575"/>
                <a:ext cx="670022" cy="906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921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 rot="-5400000">
              <a:off x="-2123316" y="3048717"/>
              <a:ext cx="4560999" cy="314368"/>
              <a:chOff x="0" y="0"/>
              <a:chExt cx="900938" cy="62097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900938" cy="62097"/>
              </a:xfrm>
              <a:custGeom>
                <a:avLst/>
                <a:gdLst/>
                <a:ahLst/>
                <a:cxnLst/>
                <a:rect l="l" t="t" r="r" b="b"/>
                <a:pathLst>
                  <a:path w="900938" h="62097">
                    <a:moveTo>
                      <a:pt x="0" y="0"/>
                    </a:moveTo>
                    <a:lnTo>
                      <a:pt x="900938" y="0"/>
                    </a:lnTo>
                    <a:lnTo>
                      <a:pt x="900938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6C928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0" y="-28575"/>
                <a:ext cx="900938" cy="906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921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7" name="Group 17"/>
          <p:cNvGrpSpPr/>
          <p:nvPr/>
        </p:nvGrpSpPr>
        <p:grpSpPr>
          <a:xfrm rot="5400000">
            <a:off x="13614746" y="733106"/>
            <a:ext cx="3598580" cy="4114800"/>
            <a:chOff x="0" y="0"/>
            <a:chExt cx="4798106" cy="5486400"/>
          </a:xfrm>
        </p:grpSpPr>
        <p:grpSp>
          <p:nvGrpSpPr>
            <p:cNvPr id="18" name="Group 18"/>
            <p:cNvGrpSpPr/>
            <p:nvPr/>
          </p:nvGrpSpPr>
          <p:grpSpPr>
            <a:xfrm>
              <a:off x="0" y="359656"/>
              <a:ext cx="4798106" cy="314368"/>
              <a:chOff x="0" y="0"/>
              <a:chExt cx="947774" cy="62097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947774" cy="62097"/>
              </a:xfrm>
              <a:custGeom>
                <a:avLst/>
                <a:gdLst/>
                <a:ahLst/>
                <a:cxnLst/>
                <a:rect l="l" t="t" r="r" b="b"/>
                <a:pathLst>
                  <a:path w="947774" h="62097">
                    <a:moveTo>
                      <a:pt x="0" y="0"/>
                    </a:moveTo>
                    <a:lnTo>
                      <a:pt x="947774" y="0"/>
                    </a:lnTo>
                    <a:lnTo>
                      <a:pt x="947774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6C928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28575"/>
                <a:ext cx="947774" cy="906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921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0" y="925401"/>
              <a:ext cx="3675307" cy="314368"/>
              <a:chOff x="0" y="0"/>
              <a:chExt cx="725987" cy="62097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725987" cy="62097"/>
              </a:xfrm>
              <a:custGeom>
                <a:avLst/>
                <a:gdLst/>
                <a:ahLst/>
                <a:cxnLst/>
                <a:rect l="l" t="t" r="r" b="b"/>
                <a:pathLst>
                  <a:path w="725987" h="62097">
                    <a:moveTo>
                      <a:pt x="0" y="0"/>
                    </a:moveTo>
                    <a:lnTo>
                      <a:pt x="725987" y="0"/>
                    </a:lnTo>
                    <a:lnTo>
                      <a:pt x="725987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6C928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-28575"/>
                <a:ext cx="725987" cy="906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921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 rot="-5400000">
              <a:off x="-650594" y="1538808"/>
              <a:ext cx="3391984" cy="314368"/>
              <a:chOff x="0" y="0"/>
              <a:chExt cx="670022" cy="62097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670022" cy="62097"/>
              </a:xfrm>
              <a:custGeom>
                <a:avLst/>
                <a:gdLst/>
                <a:ahLst/>
                <a:cxnLst/>
                <a:rect l="l" t="t" r="r" b="b"/>
                <a:pathLst>
                  <a:path w="670022" h="62097">
                    <a:moveTo>
                      <a:pt x="0" y="0"/>
                    </a:moveTo>
                    <a:lnTo>
                      <a:pt x="670022" y="0"/>
                    </a:lnTo>
                    <a:lnTo>
                      <a:pt x="670022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6C928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0" y="-28575"/>
                <a:ext cx="670022" cy="906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921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 rot="-5400000">
              <a:off x="-2123316" y="3048717"/>
              <a:ext cx="4560999" cy="314368"/>
              <a:chOff x="0" y="0"/>
              <a:chExt cx="900938" cy="62097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900938" cy="62097"/>
              </a:xfrm>
              <a:custGeom>
                <a:avLst/>
                <a:gdLst/>
                <a:ahLst/>
                <a:cxnLst/>
                <a:rect l="l" t="t" r="r" b="b"/>
                <a:pathLst>
                  <a:path w="900938" h="62097">
                    <a:moveTo>
                      <a:pt x="0" y="0"/>
                    </a:moveTo>
                    <a:lnTo>
                      <a:pt x="900938" y="0"/>
                    </a:lnTo>
                    <a:lnTo>
                      <a:pt x="900938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6C928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-28575"/>
                <a:ext cx="900938" cy="906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921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30" name="Freeform 30"/>
          <p:cNvSpPr/>
          <p:nvPr/>
        </p:nvSpPr>
        <p:spPr>
          <a:xfrm>
            <a:off x="7335590" y="5838350"/>
            <a:ext cx="3616821" cy="3616821"/>
          </a:xfrm>
          <a:custGeom>
            <a:avLst/>
            <a:gdLst/>
            <a:ahLst/>
            <a:cxnLst/>
            <a:rect l="l" t="t" r="r" b="b"/>
            <a:pathLst>
              <a:path w="3616821" h="3616821">
                <a:moveTo>
                  <a:pt x="0" y="0"/>
                </a:moveTo>
                <a:lnTo>
                  <a:pt x="3616820" y="0"/>
                </a:lnTo>
                <a:lnTo>
                  <a:pt x="3616820" y="3616821"/>
                </a:lnTo>
                <a:lnTo>
                  <a:pt x="0" y="3616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PE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E6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883124" y="1982846"/>
            <a:ext cx="6521752" cy="652175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>
                <a:alphaModFix amt="38000"/>
              </a:blip>
              <a:stretch>
                <a:fillRect l="-16559" r="-16559"/>
              </a:stretch>
            </a:blipFill>
          </p:spPr>
          <p:txBody>
            <a:bodyPr/>
            <a:lstStyle/>
            <a:p>
              <a:endParaRPr lang="es-PE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341064" y="991217"/>
            <a:ext cx="5605872" cy="235776"/>
            <a:chOff x="0" y="0"/>
            <a:chExt cx="1476444" cy="6209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76444" cy="62097"/>
            </a:xfrm>
            <a:custGeom>
              <a:avLst/>
              <a:gdLst/>
              <a:ahLst/>
              <a:cxnLst/>
              <a:rect l="l" t="t" r="r" b="b"/>
              <a:pathLst>
                <a:path w="1476444" h="62097">
                  <a:moveTo>
                    <a:pt x="0" y="0"/>
                  </a:moveTo>
                  <a:lnTo>
                    <a:pt x="1476444" y="0"/>
                  </a:lnTo>
                  <a:lnTo>
                    <a:pt x="1476444" y="62097"/>
                  </a:lnTo>
                  <a:lnTo>
                    <a:pt x="0" y="62097"/>
                  </a:lnTo>
                  <a:close/>
                </a:path>
              </a:pathLst>
            </a:custGeom>
            <a:solidFill>
              <a:srgbClr val="365B6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1476444" cy="906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21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136083" y="721474"/>
            <a:ext cx="3598580" cy="4114800"/>
            <a:chOff x="0" y="0"/>
            <a:chExt cx="4798106" cy="5486400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359656"/>
              <a:ext cx="4798106" cy="314368"/>
              <a:chOff x="0" y="0"/>
              <a:chExt cx="947774" cy="62097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947774" cy="62097"/>
              </a:xfrm>
              <a:custGeom>
                <a:avLst/>
                <a:gdLst/>
                <a:ahLst/>
                <a:cxnLst/>
                <a:rect l="l" t="t" r="r" b="b"/>
                <a:pathLst>
                  <a:path w="947774" h="62097">
                    <a:moveTo>
                      <a:pt x="0" y="0"/>
                    </a:moveTo>
                    <a:lnTo>
                      <a:pt x="947774" y="0"/>
                    </a:lnTo>
                    <a:lnTo>
                      <a:pt x="947774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365B6D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28575"/>
                <a:ext cx="947774" cy="906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21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0" y="925401"/>
              <a:ext cx="3675307" cy="314368"/>
              <a:chOff x="0" y="0"/>
              <a:chExt cx="725987" cy="62097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725987" cy="62097"/>
              </a:xfrm>
              <a:custGeom>
                <a:avLst/>
                <a:gdLst/>
                <a:ahLst/>
                <a:cxnLst/>
                <a:rect l="l" t="t" r="r" b="b"/>
                <a:pathLst>
                  <a:path w="725987" h="62097">
                    <a:moveTo>
                      <a:pt x="0" y="0"/>
                    </a:moveTo>
                    <a:lnTo>
                      <a:pt x="725987" y="0"/>
                    </a:lnTo>
                    <a:lnTo>
                      <a:pt x="725987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365B6D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-28575"/>
                <a:ext cx="725987" cy="906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21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 rot="-5400000">
              <a:off x="-650594" y="1538808"/>
              <a:ext cx="3391984" cy="314368"/>
              <a:chOff x="0" y="0"/>
              <a:chExt cx="670022" cy="62097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670022" cy="62097"/>
              </a:xfrm>
              <a:custGeom>
                <a:avLst/>
                <a:gdLst/>
                <a:ahLst/>
                <a:cxnLst/>
                <a:rect l="l" t="t" r="r" b="b"/>
                <a:pathLst>
                  <a:path w="670022" h="62097">
                    <a:moveTo>
                      <a:pt x="0" y="0"/>
                    </a:moveTo>
                    <a:lnTo>
                      <a:pt x="670022" y="0"/>
                    </a:lnTo>
                    <a:lnTo>
                      <a:pt x="670022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365B6D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0" y="-28575"/>
                <a:ext cx="670022" cy="906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21"/>
                  </a:lnSpc>
                </a:pPr>
                <a:endParaRPr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 rot="-5400000">
              <a:off x="-2123316" y="3048717"/>
              <a:ext cx="4560999" cy="314368"/>
              <a:chOff x="0" y="0"/>
              <a:chExt cx="900938" cy="62097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900938" cy="62097"/>
              </a:xfrm>
              <a:custGeom>
                <a:avLst/>
                <a:gdLst/>
                <a:ahLst/>
                <a:cxnLst/>
                <a:rect l="l" t="t" r="r" b="b"/>
                <a:pathLst>
                  <a:path w="900938" h="62097">
                    <a:moveTo>
                      <a:pt x="0" y="0"/>
                    </a:moveTo>
                    <a:lnTo>
                      <a:pt x="900938" y="0"/>
                    </a:lnTo>
                    <a:lnTo>
                      <a:pt x="900938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365B6D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-28575"/>
                <a:ext cx="900938" cy="906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21"/>
                  </a:lnSpc>
                </a:pPr>
                <a:endParaRPr/>
              </a:p>
            </p:txBody>
          </p:sp>
        </p:grpSp>
      </p:grpSp>
      <p:grpSp>
        <p:nvGrpSpPr>
          <p:cNvPr id="20" name="Group 20"/>
          <p:cNvGrpSpPr/>
          <p:nvPr/>
        </p:nvGrpSpPr>
        <p:grpSpPr>
          <a:xfrm rot="-10800000">
            <a:off x="13605221" y="5319624"/>
            <a:ext cx="3598580" cy="4114800"/>
            <a:chOff x="0" y="0"/>
            <a:chExt cx="4798106" cy="5486400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359656"/>
              <a:ext cx="4798106" cy="314368"/>
              <a:chOff x="0" y="0"/>
              <a:chExt cx="947774" cy="62097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947774" cy="62097"/>
              </a:xfrm>
              <a:custGeom>
                <a:avLst/>
                <a:gdLst/>
                <a:ahLst/>
                <a:cxnLst/>
                <a:rect l="l" t="t" r="r" b="b"/>
                <a:pathLst>
                  <a:path w="947774" h="62097">
                    <a:moveTo>
                      <a:pt x="0" y="0"/>
                    </a:moveTo>
                    <a:lnTo>
                      <a:pt x="947774" y="0"/>
                    </a:lnTo>
                    <a:lnTo>
                      <a:pt x="947774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365B6D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-28575"/>
                <a:ext cx="947774" cy="906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21"/>
                  </a:lnSpc>
                </a:pPr>
                <a:endParaRPr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0" y="925401"/>
              <a:ext cx="3675307" cy="314368"/>
              <a:chOff x="0" y="0"/>
              <a:chExt cx="725987" cy="62097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725987" cy="62097"/>
              </a:xfrm>
              <a:custGeom>
                <a:avLst/>
                <a:gdLst/>
                <a:ahLst/>
                <a:cxnLst/>
                <a:rect l="l" t="t" r="r" b="b"/>
                <a:pathLst>
                  <a:path w="725987" h="62097">
                    <a:moveTo>
                      <a:pt x="0" y="0"/>
                    </a:moveTo>
                    <a:lnTo>
                      <a:pt x="725987" y="0"/>
                    </a:lnTo>
                    <a:lnTo>
                      <a:pt x="725987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365B6D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0" y="-28575"/>
                <a:ext cx="725987" cy="906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21"/>
                  </a:lnSpc>
                </a:pPr>
                <a:endParaRPr/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 rot="-5400000">
              <a:off x="-650594" y="1538808"/>
              <a:ext cx="3391984" cy="314368"/>
              <a:chOff x="0" y="0"/>
              <a:chExt cx="670022" cy="62097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670022" cy="62097"/>
              </a:xfrm>
              <a:custGeom>
                <a:avLst/>
                <a:gdLst/>
                <a:ahLst/>
                <a:cxnLst/>
                <a:rect l="l" t="t" r="r" b="b"/>
                <a:pathLst>
                  <a:path w="670022" h="62097">
                    <a:moveTo>
                      <a:pt x="0" y="0"/>
                    </a:moveTo>
                    <a:lnTo>
                      <a:pt x="670022" y="0"/>
                    </a:lnTo>
                    <a:lnTo>
                      <a:pt x="670022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365B6D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-28575"/>
                <a:ext cx="670022" cy="906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21"/>
                  </a:lnSpc>
                </a:pPr>
                <a:endParaRPr/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 rot="-5400000">
              <a:off x="-2123316" y="3048717"/>
              <a:ext cx="4560999" cy="314368"/>
              <a:chOff x="0" y="0"/>
              <a:chExt cx="900938" cy="62097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900938" cy="62097"/>
              </a:xfrm>
              <a:custGeom>
                <a:avLst/>
                <a:gdLst/>
                <a:ahLst/>
                <a:cxnLst/>
                <a:rect l="l" t="t" r="r" b="b"/>
                <a:pathLst>
                  <a:path w="900938" h="62097">
                    <a:moveTo>
                      <a:pt x="0" y="0"/>
                    </a:moveTo>
                    <a:lnTo>
                      <a:pt x="900938" y="0"/>
                    </a:lnTo>
                    <a:lnTo>
                      <a:pt x="900938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365B6D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0" y="-28575"/>
                <a:ext cx="900938" cy="906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21"/>
                  </a:lnSpc>
                </a:pPr>
                <a:endParaRPr/>
              </a:p>
            </p:txBody>
          </p:sp>
        </p:grpSp>
      </p:grpSp>
      <p:grpSp>
        <p:nvGrpSpPr>
          <p:cNvPr id="33" name="Group 33"/>
          <p:cNvGrpSpPr/>
          <p:nvPr/>
        </p:nvGrpSpPr>
        <p:grpSpPr>
          <a:xfrm rot="-5400000">
            <a:off x="1126558" y="5307992"/>
            <a:ext cx="3598580" cy="4114800"/>
            <a:chOff x="0" y="0"/>
            <a:chExt cx="4798106" cy="5486400"/>
          </a:xfrm>
        </p:grpSpPr>
        <p:grpSp>
          <p:nvGrpSpPr>
            <p:cNvPr id="34" name="Group 34"/>
            <p:cNvGrpSpPr/>
            <p:nvPr/>
          </p:nvGrpSpPr>
          <p:grpSpPr>
            <a:xfrm>
              <a:off x="0" y="359656"/>
              <a:ext cx="4798106" cy="314368"/>
              <a:chOff x="0" y="0"/>
              <a:chExt cx="947774" cy="62097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947774" cy="62097"/>
              </a:xfrm>
              <a:custGeom>
                <a:avLst/>
                <a:gdLst/>
                <a:ahLst/>
                <a:cxnLst/>
                <a:rect l="l" t="t" r="r" b="b"/>
                <a:pathLst>
                  <a:path w="947774" h="62097">
                    <a:moveTo>
                      <a:pt x="0" y="0"/>
                    </a:moveTo>
                    <a:lnTo>
                      <a:pt x="947774" y="0"/>
                    </a:lnTo>
                    <a:lnTo>
                      <a:pt x="947774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6C928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0" y="-28575"/>
                <a:ext cx="947774" cy="906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921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0" y="925401"/>
              <a:ext cx="3675307" cy="314368"/>
              <a:chOff x="0" y="0"/>
              <a:chExt cx="725987" cy="62097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725987" cy="62097"/>
              </a:xfrm>
              <a:custGeom>
                <a:avLst/>
                <a:gdLst/>
                <a:ahLst/>
                <a:cxnLst/>
                <a:rect l="l" t="t" r="r" b="b"/>
                <a:pathLst>
                  <a:path w="725987" h="62097">
                    <a:moveTo>
                      <a:pt x="0" y="0"/>
                    </a:moveTo>
                    <a:lnTo>
                      <a:pt x="725987" y="0"/>
                    </a:lnTo>
                    <a:lnTo>
                      <a:pt x="725987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6C928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0" y="-28575"/>
                <a:ext cx="725987" cy="906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921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 rot="-5400000">
              <a:off x="-650594" y="1538808"/>
              <a:ext cx="3391984" cy="314368"/>
              <a:chOff x="0" y="0"/>
              <a:chExt cx="670022" cy="62097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670022" cy="62097"/>
              </a:xfrm>
              <a:custGeom>
                <a:avLst/>
                <a:gdLst/>
                <a:ahLst/>
                <a:cxnLst/>
                <a:rect l="l" t="t" r="r" b="b"/>
                <a:pathLst>
                  <a:path w="670022" h="62097">
                    <a:moveTo>
                      <a:pt x="0" y="0"/>
                    </a:moveTo>
                    <a:lnTo>
                      <a:pt x="670022" y="0"/>
                    </a:lnTo>
                    <a:lnTo>
                      <a:pt x="670022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6C928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0" y="-28575"/>
                <a:ext cx="670022" cy="906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921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 rot="-5400000">
              <a:off x="-2123316" y="3048717"/>
              <a:ext cx="4560999" cy="314368"/>
              <a:chOff x="0" y="0"/>
              <a:chExt cx="900938" cy="62097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900938" cy="62097"/>
              </a:xfrm>
              <a:custGeom>
                <a:avLst/>
                <a:gdLst/>
                <a:ahLst/>
                <a:cxnLst/>
                <a:rect l="l" t="t" r="r" b="b"/>
                <a:pathLst>
                  <a:path w="900938" h="62097">
                    <a:moveTo>
                      <a:pt x="0" y="0"/>
                    </a:moveTo>
                    <a:lnTo>
                      <a:pt x="900938" y="0"/>
                    </a:lnTo>
                    <a:lnTo>
                      <a:pt x="900938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6C928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0" y="-28575"/>
                <a:ext cx="900938" cy="906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921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46" name="Group 46"/>
          <p:cNvGrpSpPr/>
          <p:nvPr/>
        </p:nvGrpSpPr>
        <p:grpSpPr>
          <a:xfrm rot="5400000">
            <a:off x="13614746" y="733106"/>
            <a:ext cx="3598580" cy="4114800"/>
            <a:chOff x="0" y="0"/>
            <a:chExt cx="4798106" cy="5486400"/>
          </a:xfrm>
        </p:grpSpPr>
        <p:grpSp>
          <p:nvGrpSpPr>
            <p:cNvPr id="47" name="Group 47"/>
            <p:cNvGrpSpPr/>
            <p:nvPr/>
          </p:nvGrpSpPr>
          <p:grpSpPr>
            <a:xfrm>
              <a:off x="0" y="359656"/>
              <a:ext cx="4798106" cy="314368"/>
              <a:chOff x="0" y="0"/>
              <a:chExt cx="947774" cy="62097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947774" cy="62097"/>
              </a:xfrm>
              <a:custGeom>
                <a:avLst/>
                <a:gdLst/>
                <a:ahLst/>
                <a:cxnLst/>
                <a:rect l="l" t="t" r="r" b="b"/>
                <a:pathLst>
                  <a:path w="947774" h="62097">
                    <a:moveTo>
                      <a:pt x="0" y="0"/>
                    </a:moveTo>
                    <a:lnTo>
                      <a:pt x="947774" y="0"/>
                    </a:lnTo>
                    <a:lnTo>
                      <a:pt x="947774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6C928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0" y="-28575"/>
                <a:ext cx="947774" cy="906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921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>
              <a:off x="0" y="925401"/>
              <a:ext cx="3675307" cy="314368"/>
              <a:chOff x="0" y="0"/>
              <a:chExt cx="725987" cy="62097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0" y="0"/>
                <a:ext cx="725987" cy="62097"/>
              </a:xfrm>
              <a:custGeom>
                <a:avLst/>
                <a:gdLst/>
                <a:ahLst/>
                <a:cxnLst/>
                <a:rect l="l" t="t" r="r" b="b"/>
                <a:pathLst>
                  <a:path w="725987" h="62097">
                    <a:moveTo>
                      <a:pt x="0" y="0"/>
                    </a:moveTo>
                    <a:lnTo>
                      <a:pt x="725987" y="0"/>
                    </a:lnTo>
                    <a:lnTo>
                      <a:pt x="725987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6C928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0" y="-28575"/>
                <a:ext cx="725987" cy="906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921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 rot="-5400000">
              <a:off x="-650594" y="1538808"/>
              <a:ext cx="3391984" cy="314368"/>
              <a:chOff x="0" y="0"/>
              <a:chExt cx="670022" cy="62097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0" y="0"/>
                <a:ext cx="670022" cy="62097"/>
              </a:xfrm>
              <a:custGeom>
                <a:avLst/>
                <a:gdLst/>
                <a:ahLst/>
                <a:cxnLst/>
                <a:rect l="l" t="t" r="r" b="b"/>
                <a:pathLst>
                  <a:path w="670022" h="62097">
                    <a:moveTo>
                      <a:pt x="0" y="0"/>
                    </a:moveTo>
                    <a:lnTo>
                      <a:pt x="670022" y="0"/>
                    </a:lnTo>
                    <a:lnTo>
                      <a:pt x="670022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6C928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0" y="-28575"/>
                <a:ext cx="670022" cy="906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921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 rot="-5400000">
              <a:off x="-2123316" y="3048717"/>
              <a:ext cx="4560999" cy="314368"/>
              <a:chOff x="0" y="0"/>
              <a:chExt cx="900938" cy="62097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0" y="0"/>
                <a:ext cx="900938" cy="62097"/>
              </a:xfrm>
              <a:custGeom>
                <a:avLst/>
                <a:gdLst/>
                <a:ahLst/>
                <a:cxnLst/>
                <a:rect l="l" t="t" r="r" b="b"/>
                <a:pathLst>
                  <a:path w="900938" h="62097">
                    <a:moveTo>
                      <a:pt x="0" y="0"/>
                    </a:moveTo>
                    <a:lnTo>
                      <a:pt x="900938" y="0"/>
                    </a:lnTo>
                    <a:lnTo>
                      <a:pt x="900938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6C928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s-PE"/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0" y="-28575"/>
                <a:ext cx="900938" cy="906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921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59" name="TextBox 59"/>
          <p:cNvSpPr txBox="1"/>
          <p:nvPr/>
        </p:nvSpPr>
        <p:spPr>
          <a:xfrm>
            <a:off x="2890968" y="3532743"/>
            <a:ext cx="12965683" cy="1961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4202"/>
              </a:lnSpc>
            </a:pPr>
            <a:r>
              <a:rPr lang="en-US" sz="15957" b="1" spc="510">
                <a:solidFill>
                  <a:srgbClr val="365B6D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MUCHAS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855872" y="5128116"/>
            <a:ext cx="15035875" cy="1961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4202"/>
              </a:lnSpc>
            </a:pPr>
            <a:r>
              <a:rPr lang="en-US" sz="15957" b="1" spc="510">
                <a:solidFill>
                  <a:srgbClr val="6C9286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GRACIAS</a:t>
            </a:r>
          </a:p>
        </p:txBody>
      </p:sp>
      <p:grpSp>
        <p:nvGrpSpPr>
          <p:cNvPr id="61" name="Group 61"/>
          <p:cNvGrpSpPr/>
          <p:nvPr/>
        </p:nvGrpSpPr>
        <p:grpSpPr>
          <a:xfrm rot="-10800000">
            <a:off x="6341064" y="8928906"/>
            <a:ext cx="5605872" cy="235776"/>
            <a:chOff x="0" y="0"/>
            <a:chExt cx="1476444" cy="62097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1476444" cy="62097"/>
            </a:xfrm>
            <a:custGeom>
              <a:avLst/>
              <a:gdLst/>
              <a:ahLst/>
              <a:cxnLst/>
              <a:rect l="l" t="t" r="r" b="b"/>
              <a:pathLst>
                <a:path w="1476444" h="62097">
                  <a:moveTo>
                    <a:pt x="0" y="0"/>
                  </a:moveTo>
                  <a:lnTo>
                    <a:pt x="1476444" y="0"/>
                  </a:lnTo>
                  <a:lnTo>
                    <a:pt x="1476444" y="62097"/>
                  </a:lnTo>
                  <a:lnTo>
                    <a:pt x="0" y="62097"/>
                  </a:lnTo>
                  <a:close/>
                </a:path>
              </a:pathLst>
            </a:custGeom>
            <a:solidFill>
              <a:srgbClr val="365B6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0" y="-28575"/>
              <a:ext cx="1476444" cy="906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21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7269826" y="1415525"/>
            <a:ext cx="3748348" cy="235776"/>
            <a:chOff x="0" y="0"/>
            <a:chExt cx="987219" cy="62097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987219" cy="62097"/>
            </a:xfrm>
            <a:custGeom>
              <a:avLst/>
              <a:gdLst/>
              <a:ahLst/>
              <a:cxnLst/>
              <a:rect l="l" t="t" r="r" b="b"/>
              <a:pathLst>
                <a:path w="987219" h="62097">
                  <a:moveTo>
                    <a:pt x="0" y="0"/>
                  </a:moveTo>
                  <a:lnTo>
                    <a:pt x="987219" y="0"/>
                  </a:lnTo>
                  <a:lnTo>
                    <a:pt x="987219" y="62097"/>
                  </a:lnTo>
                  <a:lnTo>
                    <a:pt x="0" y="62097"/>
                  </a:lnTo>
                  <a:close/>
                </a:path>
              </a:pathLst>
            </a:custGeom>
            <a:solidFill>
              <a:srgbClr val="365B6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0" y="-28575"/>
              <a:ext cx="987219" cy="906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21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7" name="Group 67"/>
          <p:cNvGrpSpPr/>
          <p:nvPr/>
        </p:nvGrpSpPr>
        <p:grpSpPr>
          <a:xfrm rot="-10800000">
            <a:off x="7269826" y="8504598"/>
            <a:ext cx="3748348" cy="235776"/>
            <a:chOff x="0" y="0"/>
            <a:chExt cx="987219" cy="62097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987219" cy="62097"/>
            </a:xfrm>
            <a:custGeom>
              <a:avLst/>
              <a:gdLst/>
              <a:ahLst/>
              <a:cxnLst/>
              <a:rect l="l" t="t" r="r" b="b"/>
              <a:pathLst>
                <a:path w="987219" h="62097">
                  <a:moveTo>
                    <a:pt x="0" y="0"/>
                  </a:moveTo>
                  <a:lnTo>
                    <a:pt x="987219" y="0"/>
                  </a:lnTo>
                  <a:lnTo>
                    <a:pt x="987219" y="62097"/>
                  </a:lnTo>
                  <a:lnTo>
                    <a:pt x="0" y="62097"/>
                  </a:lnTo>
                  <a:close/>
                </a:path>
              </a:pathLst>
            </a:custGeom>
            <a:solidFill>
              <a:srgbClr val="365B6D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PE"/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0" y="-28575"/>
              <a:ext cx="987219" cy="906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21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498</Words>
  <Application>Microsoft Office PowerPoint</Application>
  <PresentationFormat>Personalizado</PresentationFormat>
  <Paragraphs>80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20" baseType="lpstr">
      <vt:lpstr>Monterchi Serif</vt:lpstr>
      <vt:lpstr>Monterchi Serif Bold</vt:lpstr>
      <vt:lpstr>Calibri</vt:lpstr>
      <vt:lpstr>Arial</vt:lpstr>
      <vt:lpstr>Roboto Bold</vt:lpstr>
      <vt:lpstr>Roboto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Universitaria Trabajo de Fin de Grado Geométrico Minimalista Crema y Verde Claro</dc:title>
  <dc:creator>Jhonatan Rodrigo Huaman Ramos</dc:creator>
  <cp:lastModifiedBy>Administrador</cp:lastModifiedBy>
  <cp:revision>7</cp:revision>
  <dcterms:created xsi:type="dcterms:W3CDTF">2006-08-16T00:00:00Z</dcterms:created>
  <dcterms:modified xsi:type="dcterms:W3CDTF">2025-07-15T21:52:54Z</dcterms:modified>
  <dc:identifier>DAGtM7m4UJk</dc:identifier>
</cp:coreProperties>
</file>